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5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33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docProps/custom.xml" ContentType="application/vnd.openxmlformats-officedocument.custom-properties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slides/slide28.xml" ContentType="application/vnd.openxmlformats-officedocument.presentationml.slide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s/slide34.xml" ContentType="application/vnd.openxmlformats-officedocument.presentationml.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12192000" cy="6858000"/>
  <p:notesSz cx="12192000" cy="6858000"/>
  <p:defaultTextStyle>
    <a:defPPr>
      <a:defRPr lang="ru-RU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D7AC3CCA-C797-4891-BE02-D94E43425B78}">
  <a:tblStyle styleId="{D7AC3CCA-C797-4891-BE02-D94E43425B78}" styleName="Medium Style 4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dk1"/>
              </a:solidFill>
            </a:ln>
          </a:left>
          <a:right>
            <a:ln w="12700">
              <a:solidFill>
                <a:schemeClr val="dk1"/>
              </a:solidFill>
            </a:ln>
          </a:right>
          <a:top>
            <a:ln w="12700">
              <a:solidFill>
                <a:schemeClr val="dk1"/>
              </a:solidFill>
            </a:ln>
          </a:top>
          <a:bottom>
            <a:ln w="12700">
              <a:solidFill>
                <a:schemeClr val="dk1"/>
              </a:solidFill>
            </a:ln>
          </a:bottom>
          <a:insideH>
            <a:ln w="12700">
              <a:solidFill>
                <a:schemeClr val="dk1"/>
              </a:solidFill>
            </a:ln>
          </a:insideH>
          <a:insideV>
            <a:ln w="12700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  <a:fill>
          <a:solidFill>
            <a:schemeClr val="dk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38100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dk1"/>
      </a:tcTxStyle>
      <a:tcStyle>
        <a:tcBdr>
          <a:bottom>
            <a:ln w="12700">
              <a:solidFill>
                <a:schemeClr val="dk1"/>
              </a:solidFill>
            </a:ln>
          </a:bottom>
        </a:tcBdr>
        <a:fill>
          <a:solidFill>
            <a:schemeClr val="dk1">
              <a:tint val="20000"/>
            </a:schemeClr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5" d="102"/>
          <a:sy n="99" d="101"/>
        </p:scale>
        <p:origin x="112" y="112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presProps" Target="presProps.xml" /><Relationship Id="rId38" Type="http://schemas.openxmlformats.org/officeDocument/2006/relationships/tableStyles" Target="tableStyles.xml" /><Relationship Id="rId39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" name="Shape 1061"/>
          <p:cNvSpPr>
            <a:spLocks noChangeArrowheads="1" noGrp="1"/>
          </p:cNvSpPr>
          <p:nvPr userDrawn="1"/>
        </p:nvSpPr>
        <p:spPr bwMode="auto">
          <a:xfrm>
            <a:off x="6567030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5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5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" name="Shape 1061"/>
          <p:cNvSpPr>
            <a:spLocks noChangeArrowheads="1" noGrp="1"/>
          </p:cNvSpPr>
          <p:nvPr userDrawn="1"/>
        </p:nvSpPr>
        <p:spPr bwMode="auto">
          <a:xfrm>
            <a:off x="1637456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MsKonfety/MetrologyAI" TargetMode="External"/><Relationship Id="rId3" Type="http://schemas.openxmlformats.org/officeDocument/2006/relationships/hyperlink" Target="https://github.com/AnnaSus1ova/Metrology-Meter-AI-CV-MIPT-AUT-202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7429607" name="PlaceHolder 1"/>
          <p:cNvSpPr>
            <a:spLocks noGrp="1"/>
          </p:cNvSpPr>
          <p:nvPr>
            <p:ph type="title"/>
          </p:nvPr>
        </p:nvSpPr>
        <p:spPr bwMode="auto">
          <a:xfrm>
            <a:off x="2305589" y="1042559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7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MetrologyAI</a:t>
            </a:r>
            <a:endParaRPr sz="7200">
              <a:solidFill>
                <a:schemeClr val="tx1"/>
              </a:solidFill>
            </a:endParaRPr>
          </a:p>
        </p:txBody>
      </p:sp>
      <p:sp>
        <p:nvSpPr>
          <p:cNvPr id="749738569" name="PlaceHolder 1"/>
          <p:cNvSpPr>
            <a:spLocks noGrp="1"/>
          </p:cNvSpPr>
          <p:nvPr/>
        </p:nvSpPr>
        <p:spPr bwMode="auto">
          <a:xfrm>
            <a:off x="2410363" y="2166508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vert="horz" lIns="0" tIns="0" rIns="0" bIns="0" rtlCol="0" anchor="ctr">
            <a:noAutofit/>
          </a:bodyPr>
          <a:lstStyle>
            <a:lvl1pPr algn="r" defTabSz="914400">
              <a:spcBef>
                <a:spcPts val="0"/>
              </a:spcBef>
              <a:buNone/>
              <a:defRPr sz="44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Определение расстояния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defRPr/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до объектов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888483030" name=""/>
          <p:cNvGraphicFramePr>
            <a:graphicFrameLocks xmlns:a="http://schemas.openxmlformats.org/drawingml/2006/main"/>
          </p:cNvGraphicFramePr>
          <p:nvPr>
            <p:ph idx="1"/>
          </p:nvPr>
        </p:nvGraphicFramePr>
        <p:xfrm>
          <a:off x="20025" y="1720849"/>
          <a:ext cx="12163424" cy="4610734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{D7AC3CCA-C797-4891-BE02-D94E43425B78}</a:tableStyleId>
              </a:tblPr>
              <a:tblGrid>
                <a:gridCol w="1561344"/>
                <a:gridCol w="912718"/>
                <a:gridCol w="1064983"/>
                <a:gridCol w="1144986"/>
                <a:gridCol w="832717"/>
                <a:gridCol w="936805"/>
                <a:gridCol w="1040896"/>
                <a:gridCol w="936805"/>
                <a:gridCol w="936805"/>
                <a:gridCol w="891932"/>
                <a:gridCol w="898219"/>
                <a:gridCol w="964905"/>
              </a:tblGrid>
              <a:tr h="745610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/>
                        <a:t>Подготовка данных</a:t>
                      </a:r>
                      <a:endParaRPr sz="120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/>
                        <a:t>Разметка данных</a:t>
                      </a:r>
                      <a:endParaRPr sz="120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/>
                        <a:t>Создание модели классификации</a:t>
                      </a:r>
                      <a:endParaRPr sz="120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/>
                        <a:t>Детектирование</a:t>
                      </a:r>
                      <a:endParaRPr sz="120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/>
                        <a:t>Анализ данных</a:t>
                      </a:r>
                      <a:endParaRPr sz="120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/>
                        <a:t>Обучение моделей</a:t>
                      </a:r>
                      <a:endParaRPr sz="120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/>
                        <a:t>Разработка интерфейса</a:t>
                      </a:r>
                      <a:endParaRPr sz="120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/>
                        <a:t>Разработка трекера</a:t>
                      </a:r>
                      <a:endParaRPr sz="120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/>
                        <a:t>Организация многопоточности</a:t>
                      </a:r>
                      <a:endParaRPr sz="120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/>
                        <a:t>Построение графиков</a:t>
                      </a:r>
                      <a:endParaRPr sz="120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/>
                        <a:t>Сборка проекта</a:t>
                      </a:r>
                      <a:endParaRPr sz="120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74561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400" b="1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Суслова Анна</a:t>
                      </a:r>
                      <a:endParaRPr sz="1400" b="1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3600" b="0" i="0" u="none" strike="noStrike" cap="none" spc="0">
                          <a:solidFill>
                            <a:srgbClr val="00B050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✔</a:t>
                      </a: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3600" b="0" i="0" u="none" strike="noStrike" cap="none" spc="0">
                          <a:solidFill>
                            <a:srgbClr val="00B050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✔</a:t>
                      </a: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3600" b="0" i="0" u="none" strike="noStrike" cap="none" spc="0">
                          <a:solidFill>
                            <a:srgbClr val="00B050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✔</a:t>
                      </a: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792633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/>
                        <a:t>Бакиров Арсен</a:t>
                      </a:r>
                      <a:endParaRPr b="1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3600" b="0" i="0" u="none" strike="noStrike" cap="none" spc="0">
                          <a:solidFill>
                            <a:srgbClr val="00B050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✔</a:t>
                      </a: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3600" b="0" i="0" u="none" strike="noStrike" cap="none" spc="0">
                          <a:solidFill>
                            <a:srgbClr val="00B050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✔</a:t>
                      </a: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74561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/>
                        <a:t>Астафурова</a:t>
                      </a:r>
                      <a:endParaRPr sz="1400" b="1"/>
                    </a:p>
                    <a:p>
                      <a:pPr>
                        <a:defRPr/>
                      </a:pPr>
                      <a:r>
                        <a:rPr sz="1400" b="1"/>
                        <a:t>Анна</a:t>
                      </a:r>
                      <a:endParaRPr b="1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3600" b="0" i="0" u="none" strike="noStrike" cap="none" spc="0">
                          <a:solidFill>
                            <a:srgbClr val="00B050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✔</a:t>
                      </a: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3600" b="0" i="0" u="none" strike="noStrike" cap="none" spc="0">
                          <a:solidFill>
                            <a:srgbClr val="00B050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✔</a:t>
                      </a: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3600" b="0" i="0" u="none" strike="noStrike" cap="none" spc="0">
                          <a:solidFill>
                            <a:srgbClr val="00B050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✔</a:t>
                      </a: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3600" b="0" i="0" u="none" strike="noStrike" cap="none" spc="0">
                          <a:solidFill>
                            <a:srgbClr val="00B050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✔</a:t>
                      </a: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74561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>
                          <a:solidFill>
                            <a:schemeClr val="tx1"/>
                          </a:solidFill>
                        </a:rPr>
                        <a:t>Шевякина</a:t>
                      </a:r>
                      <a:endParaRPr sz="1400" b="1">
                        <a:solidFill>
                          <a:schemeClr val="tx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sz="1400" b="1">
                          <a:solidFill>
                            <a:schemeClr val="tx1"/>
                          </a:solidFill>
                        </a:rPr>
                        <a:t>Анастасия</a:t>
                      </a:r>
                      <a:endParaRPr sz="140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3600" b="0" i="0" u="none" strike="noStrike" cap="none" spc="0">
                          <a:solidFill>
                            <a:srgbClr val="00B050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✔</a:t>
                      </a: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3600" b="0" i="0" u="none" strike="noStrike" cap="none" spc="0">
                          <a:solidFill>
                            <a:srgbClr val="00B050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✔</a:t>
                      </a: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3600" b="0" i="0" u="none" strike="noStrike" cap="none" spc="0">
                          <a:solidFill>
                            <a:srgbClr val="00B050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✔</a:t>
                      </a: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3600" b="0" i="0" u="none" strike="noStrike" cap="none" spc="0">
                          <a:solidFill>
                            <a:srgbClr val="00B050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✔</a:t>
                      </a: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74561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/>
                        <a:t>Борисов Евгений</a:t>
                      </a:r>
                      <a:endParaRPr sz="1400" b="1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3600" b="0" i="0" u="none" strike="noStrike" cap="none" spc="0">
                          <a:solidFill>
                            <a:srgbClr val="00B050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✔</a:t>
                      </a: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3600" b="0" i="0" u="none" strike="noStrike" cap="none" spc="0">
                          <a:solidFill>
                            <a:srgbClr val="00B050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✔</a:t>
                      </a: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3600" b="0" i="0" u="none" strike="noStrike" cap="none" spc="0">
                          <a:solidFill>
                            <a:srgbClr val="00B050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✔</a:t>
                      </a: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3600" b="0" i="0" u="none" strike="noStrike" cap="none" spc="0">
                          <a:solidFill>
                            <a:srgbClr val="00B050"/>
                          </a:solidFill>
                          <a:latin typeface="Abyssinica SIL"/>
                          <a:ea typeface="Abyssinica SIL"/>
                          <a:cs typeface="Abyssinica SIL"/>
                        </a:rPr>
                        <a:t>✔</a:t>
                      </a:r>
                      <a:endParaRPr sz="3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41387346" name="PlaceHolder 1"/>
          <p:cNvSpPr>
            <a:spLocks noGrp="1"/>
          </p:cNvSpPr>
          <p:nvPr/>
        </p:nvSpPr>
        <p:spPr bwMode="auto">
          <a:xfrm flipH="0" flipV="0">
            <a:off x="914277" y="682470"/>
            <a:ext cx="9142920" cy="6323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ctr">
              <a:buNone/>
              <a:defRPr/>
            </a:pPr>
            <a:r>
              <a:rPr sz="4800" b="0" strike="noStrike" spc="0">
                <a:solidFill>
                  <a:srgbClr val="000000"/>
                </a:solidFill>
                <a:latin typeface="Liberation Sans"/>
                <a:cs typeface="Liberation Sans"/>
              </a:rPr>
              <a:t>Распределение задач:</a:t>
            </a:r>
            <a:endParaRPr sz="4800" b="0" strike="noStrike" spc="0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835475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323855" y="1979730"/>
            <a:ext cx="8621219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l">
              <a:defRPr/>
            </a:pPr>
            <a:r>
              <a:rPr sz="3600" b="0">
                <a:solidFill>
                  <a:schemeClr val="tx1"/>
                </a:solidFill>
              </a:rPr>
              <a:t>Необходимо создать приложение для определения расстояния до объекта по данным </a:t>
            </a:r>
            <a:r>
              <a:rPr sz="3600" b="0">
                <a:solidFill>
                  <a:schemeClr val="tx1"/>
                </a:solidFill>
              </a:rPr>
              <a:t>видеопотока.</a:t>
            </a:r>
            <a:endParaRPr sz="3600" b="0">
              <a:solidFill>
                <a:schemeClr val="tx1"/>
              </a:solidFill>
            </a:endParaRPr>
          </a:p>
        </p:txBody>
      </p:sp>
      <p:sp>
        <p:nvSpPr>
          <p:cNvPr id="1497513501" name="PlaceHolder 1"/>
          <p:cNvSpPr>
            <a:spLocks noGrp="1"/>
          </p:cNvSpPr>
          <p:nvPr/>
        </p:nvSpPr>
        <p:spPr bwMode="auto">
          <a:xfrm flipH="0" flipV="0">
            <a:off x="142753" y="758670"/>
            <a:ext cx="9142920" cy="6323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ctr">
              <a:buNone/>
              <a:defRPr/>
            </a:pPr>
            <a:r>
              <a:rPr sz="4800" b="0" strike="noStrike" spc="0">
                <a:solidFill>
                  <a:srgbClr val="000000"/>
                </a:solidFill>
                <a:latin typeface="Liberation Sans"/>
                <a:cs typeface="Liberation Sans"/>
              </a:rPr>
              <a:t>Постановка задачи:</a:t>
            </a:r>
            <a:endParaRPr sz="4800" b="0" strike="noStrike" spc="0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1055349" name=""/>
          <p:cNvSpPr txBox="1"/>
          <p:nvPr/>
        </p:nvSpPr>
        <p:spPr bwMode="auto">
          <a:xfrm flipH="0" flipV="0">
            <a:off x="478199" y="1924049"/>
            <a:ext cx="1119278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545645816" name=""/>
          <p:cNvSpPr txBox="1"/>
          <p:nvPr/>
        </p:nvSpPr>
        <p:spPr bwMode="auto">
          <a:xfrm flipH="0" flipV="0">
            <a:off x="1697399" y="3071219"/>
            <a:ext cx="857321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>
                <a:latin typeface="Liberation Sans"/>
                <a:ea typeface="Liberation Sans"/>
                <a:cs typeface="Liberation Sans"/>
              </a:rPr>
              <a:t>Подготовка и анализ данных</a:t>
            </a:r>
            <a:endParaRPr sz="4800"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763247" name=""/>
          <p:cNvSpPr txBox="1"/>
          <p:nvPr/>
        </p:nvSpPr>
        <p:spPr bwMode="auto">
          <a:xfrm flipH="0" flipV="0">
            <a:off x="450741" y="438149"/>
            <a:ext cx="9267427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 b="0">
                <a:latin typeface="Liberation Sans"/>
                <a:ea typeface="Liberation Sans"/>
                <a:cs typeface="Liberation Sans"/>
              </a:rPr>
              <a:t>Задачи:</a:t>
            </a:r>
            <a:endParaRPr sz="4800" b="0">
              <a:latin typeface="Liberation Sans"/>
              <a:cs typeface="Liberation Sans"/>
            </a:endParaRPr>
          </a:p>
        </p:txBody>
      </p:sp>
      <p:sp>
        <p:nvSpPr>
          <p:cNvPr id="1074041804" name=""/>
          <p:cNvSpPr txBox="1"/>
          <p:nvPr/>
        </p:nvSpPr>
        <p:spPr bwMode="auto">
          <a:xfrm flipH="0" flipV="0">
            <a:off x="852132" y="1638298"/>
            <a:ext cx="10539208" cy="435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>
              <a:buFont typeface="Arial"/>
              <a:buChar char="•"/>
              <a:defRPr/>
            </a:pPr>
            <a:r>
              <a:rPr sz="2800">
                <a:latin typeface="Liberation Sans"/>
                <a:ea typeface="Liberation Sans"/>
                <a:cs typeface="Liberation Sans"/>
              </a:rPr>
              <a:t>Создание и организация датасета для оценки дальности объекта (объект - мобильный телефон)</a:t>
            </a:r>
            <a:endParaRPr sz="2800">
              <a:latin typeface="Liberation Sans"/>
              <a:ea typeface="Liberation Sans"/>
              <a:cs typeface="Liberation Sans"/>
            </a:endParaRPr>
          </a:p>
          <a:p>
            <a:pPr marL="283879" indent="-283879">
              <a:buFont typeface="Arial"/>
              <a:buChar char="•"/>
              <a:defRPr/>
            </a:pPr>
            <a:endParaRPr sz="2800">
              <a:latin typeface="Liberation Sans"/>
              <a:ea typeface="Liberation Sans"/>
              <a:cs typeface="Liberation Sans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2800">
                <a:latin typeface="Liberation Sans"/>
                <a:ea typeface="Liberation Sans"/>
                <a:cs typeface="Liberation Sans"/>
              </a:rPr>
              <a:t>Анализ собранных</a:t>
            </a:r>
            <a:r>
              <a:rPr sz="2800">
                <a:latin typeface="Liberation Sans"/>
                <a:ea typeface="Liberation Sans"/>
                <a:cs typeface="Liberation Sans"/>
              </a:rPr>
              <a:t> данных и проверка их качества</a:t>
            </a:r>
            <a:endParaRPr sz="2800">
              <a:latin typeface="Liberation Sans"/>
              <a:ea typeface="Liberation Sans"/>
              <a:cs typeface="Liberation Sans"/>
            </a:endParaRPr>
          </a:p>
          <a:p>
            <a:pPr marL="283879" indent="-283879">
              <a:buFont typeface="Arial"/>
              <a:buChar char="•"/>
              <a:defRPr/>
            </a:pPr>
            <a:endParaRPr sz="2800">
              <a:latin typeface="Liberation Sans"/>
              <a:ea typeface="Liberation Sans"/>
              <a:cs typeface="Liberation Sans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2800">
                <a:latin typeface="Liberation Sans"/>
                <a:ea typeface="Liberation Sans"/>
                <a:cs typeface="Liberation Sans"/>
              </a:rPr>
              <a:t>Разработка вспомогательного модуля для разбивки видеопотока на кадры</a:t>
            </a:r>
            <a:endParaRPr sz="2800">
              <a:latin typeface="Liberation Sans"/>
              <a:ea typeface="Liberation Sans"/>
              <a:cs typeface="Liberation Sans"/>
            </a:endParaRPr>
          </a:p>
          <a:p>
            <a:pPr marL="283879" indent="-283879">
              <a:buFont typeface="Arial"/>
              <a:buChar char="•"/>
              <a:defRPr/>
            </a:pPr>
            <a:endParaRPr sz="2800">
              <a:latin typeface="Liberation Sans"/>
              <a:ea typeface="Liberation Sans"/>
              <a:cs typeface="Liberation Sans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2800">
                <a:latin typeface="Liberation Sans"/>
                <a:ea typeface="Liberation Sans"/>
                <a:cs typeface="Liberation Sans"/>
              </a:rPr>
              <a:t>Разработка вспомогательного модуля для пост-обработки результатов определения расстояния</a:t>
            </a:r>
            <a:endParaRPr sz="2800">
              <a:latin typeface="Liberation Sans"/>
              <a:ea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912583" name=""/>
          <p:cNvSpPr txBox="1"/>
          <p:nvPr/>
        </p:nvSpPr>
        <p:spPr bwMode="auto">
          <a:xfrm flipH="0" flipV="0">
            <a:off x="427905" y="380999"/>
            <a:ext cx="11304194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 b="0">
                <a:latin typeface="Liberation Sans"/>
                <a:ea typeface="Liberation Sans"/>
                <a:cs typeface="Liberation Sans"/>
              </a:rPr>
              <a:t>Создание и организация датасета</a:t>
            </a:r>
            <a:endParaRPr sz="4800" b="0">
              <a:latin typeface="Liberation Sans"/>
              <a:cs typeface="Liberation Sans"/>
            </a:endParaRPr>
          </a:p>
        </p:txBody>
      </p:sp>
      <p:sp>
        <p:nvSpPr>
          <p:cNvPr id="833365128" name=""/>
          <p:cNvSpPr txBox="1"/>
          <p:nvPr/>
        </p:nvSpPr>
        <p:spPr bwMode="auto">
          <a:xfrm flipH="0" flipV="0">
            <a:off x="535348" y="1352548"/>
            <a:ext cx="11244268" cy="5212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Цель этапа: </a:t>
            </a:r>
            <a:r>
              <a:rPr sz="2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сформировать </a:t>
            </a:r>
            <a:r>
              <a:rPr sz="2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набор </a:t>
            </a:r>
            <a:r>
              <a:rPr sz="2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данных для обучения и тестирования модели.</a:t>
            </a:r>
            <a:endParaRPr sz="2400">
              <a:solidFill>
                <a:schemeClr val="tx1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endParaRPr sz="2400">
              <a:solidFill>
                <a:schemeClr val="tx1"/>
              </a:solidFill>
              <a:latin typeface="Liberation Sans"/>
              <a:cs typeface="Liberation Sans"/>
            </a:endParaRPr>
          </a:p>
          <a:p>
            <a:pPr>
              <a:defRPr/>
            </a:pPr>
            <a:r>
              <a:rPr sz="24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Алгоритм создания данных:</a:t>
            </a:r>
            <a:endParaRPr sz="2400">
              <a:solidFill>
                <a:schemeClr val="tx1"/>
              </a:solidFill>
              <a:latin typeface="Liberation Sans"/>
              <a:cs typeface="Liberation Sans"/>
            </a:endParaRPr>
          </a:p>
          <a:p>
            <a:pPr marL="349965" indent="-349965">
              <a:buAutoNum type="arabicPeriod"/>
              <a:defRPr/>
            </a:pPr>
            <a:r>
              <a:rPr sz="24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Параметризация:</a:t>
            </a:r>
            <a:r>
              <a:rPr sz="2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определены варьируемые параметры: 5 позиций в кадре(4 угла + центр) </a:t>
            </a:r>
            <a:r>
              <a:rPr sz="2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× 11 дистанций ( от 50 см до 250 см с шагом 20 см).</a:t>
            </a:r>
            <a:endParaRPr sz="2400" b="0" i="0" u="none">
              <a:solidFill>
                <a:schemeClr val="tx1"/>
              </a:solidFill>
              <a:latin typeface="Liberation Sans"/>
              <a:ea typeface="Liberation Sans"/>
              <a:cs typeface="Liberation Sans"/>
            </a:endParaRPr>
          </a:p>
          <a:p>
            <a:pPr marL="349965" indent="-349965">
              <a:buAutoNum type="arabicPeriod"/>
              <a:defRPr/>
            </a:pPr>
            <a:r>
              <a:rPr sz="24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Сбор статического набора: </a:t>
            </a:r>
            <a:r>
              <a:rPr sz="2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ручной сбор (фотографирование на другой смартфон) </a:t>
            </a:r>
            <a:r>
              <a:rPr sz="2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&gt; </a:t>
            </a:r>
            <a:r>
              <a:rPr sz="2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220 изображений смартфона с заданными параметрами.</a:t>
            </a:r>
            <a:endParaRPr sz="2400">
              <a:solidFill>
                <a:schemeClr val="tx1"/>
              </a:solidFill>
              <a:latin typeface="Liberation Sans"/>
              <a:ea typeface="Liberation Sans"/>
              <a:cs typeface="Liberation Sans"/>
            </a:endParaRPr>
          </a:p>
          <a:p>
            <a:pPr marL="349965" indent="-349965">
              <a:buAutoNum type="arabicPeriod"/>
              <a:defRPr/>
            </a:pPr>
            <a:r>
              <a:rPr sz="24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Генерация динамического набора: </a:t>
            </a:r>
            <a:r>
              <a:rPr sz="2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запись длинного видео (</a:t>
            </a:r>
            <a:r>
              <a:rPr sz="2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≈ 5 мин.) с непрерывным изменением расстояния и положения объекта в кадре.</a:t>
            </a:r>
            <a:endParaRPr sz="2400">
              <a:solidFill>
                <a:schemeClr val="tx1"/>
              </a:solidFill>
              <a:latin typeface="Liberation Sans"/>
              <a:cs typeface="Liberation Sans"/>
            </a:endParaRPr>
          </a:p>
          <a:p>
            <a:pPr>
              <a:defRPr/>
            </a:pPr>
            <a:endParaRPr sz="2400">
              <a:solidFill>
                <a:schemeClr val="tx1"/>
              </a:solidFill>
              <a:latin typeface="Liberation Sans"/>
              <a:cs typeface="Liberation Sans"/>
            </a:endParaRPr>
          </a:p>
          <a:p>
            <a:pPr>
              <a:defRPr/>
            </a:pPr>
            <a:r>
              <a:rPr sz="24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Итог: </a:t>
            </a:r>
            <a:r>
              <a:rPr sz="2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формализована предметная область, сформирован набор данных(статические данные и данные видеопотока), сформирована структура набора данных.</a:t>
            </a:r>
            <a:endParaRPr sz="2400">
              <a:solidFill>
                <a:schemeClr val="tx1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7181284" name=""/>
          <p:cNvSpPr txBox="1"/>
          <p:nvPr/>
        </p:nvSpPr>
        <p:spPr bwMode="auto">
          <a:xfrm flipH="0" flipV="0">
            <a:off x="439762" y="380999"/>
            <a:ext cx="11324714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 b="0">
                <a:latin typeface="Liberation Sans"/>
                <a:ea typeface="Liberation Sans"/>
                <a:cs typeface="Liberation Sans"/>
              </a:rPr>
              <a:t>Первичный анализ и проверка данных</a:t>
            </a:r>
            <a:endParaRPr sz="4800" b="0">
              <a:latin typeface="Liberation Sans"/>
              <a:cs typeface="Liberation Sans"/>
            </a:endParaRPr>
          </a:p>
        </p:txBody>
      </p:sp>
      <p:sp>
        <p:nvSpPr>
          <p:cNvPr id="752954885" name=""/>
          <p:cNvSpPr txBox="1"/>
          <p:nvPr/>
        </p:nvSpPr>
        <p:spPr bwMode="auto">
          <a:xfrm flipH="0" flipV="0">
            <a:off x="535348" y="1333498"/>
            <a:ext cx="11070568" cy="497466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Цель этапа: </a:t>
            </a:r>
            <a:r>
              <a:rPr sz="2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проверить качество, структуру и репрезентативность собранных данных.</a:t>
            </a:r>
            <a:endParaRPr sz="2400">
              <a:solidFill>
                <a:schemeClr val="tx1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endParaRPr sz="2400">
              <a:solidFill>
                <a:schemeClr val="tx1"/>
              </a:solidFill>
              <a:latin typeface="Liberation Sans"/>
              <a:cs typeface="Liberation Sans"/>
            </a:endParaRPr>
          </a:p>
          <a:p>
            <a:pPr>
              <a:lnSpc>
                <a:spcPct val="114999"/>
              </a:lnSpc>
              <a:defRPr/>
            </a:pPr>
            <a:r>
              <a:rPr sz="24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Применённые методы:</a:t>
            </a:r>
            <a:endParaRPr sz="2400">
              <a:solidFill>
                <a:schemeClr val="tx1"/>
              </a:solidFill>
              <a:latin typeface="Liberation Sans"/>
              <a:cs typeface="Liberation Sans"/>
            </a:endParaRPr>
          </a:p>
          <a:p>
            <a:pPr marL="394023" indent="-394023">
              <a:lnSpc>
                <a:spcPct val="114999"/>
              </a:lnSpc>
              <a:buAutoNum type="arabicPeriod"/>
              <a:defRPr/>
            </a:pPr>
            <a:r>
              <a:rPr sz="24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Exploratory Data Analysis (EDA):</a:t>
            </a:r>
            <a:endParaRPr sz="2400" b="1" i="0" u="none">
              <a:solidFill>
                <a:schemeClr val="tx1"/>
              </a:solidFill>
              <a:latin typeface="Liberation Sans"/>
              <a:ea typeface="Liberation Sans"/>
              <a:cs typeface="Liberation Sans"/>
            </a:endParaRPr>
          </a:p>
          <a:p>
            <a:pPr lvl="1">
              <a:lnSpc>
                <a:spcPct val="114999"/>
              </a:lnSpc>
              <a:defRPr/>
            </a:pPr>
            <a:r>
              <a:rPr sz="2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•</a:t>
            </a:r>
            <a:r>
              <a:rPr sz="2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Каждое изображение описано вектором из 18 признаков:</a:t>
            </a:r>
            <a:endParaRPr sz="2400">
              <a:solidFill>
                <a:schemeClr val="tx1"/>
              </a:solidFill>
              <a:latin typeface="Liberation Sans"/>
              <a:cs typeface="Liberation Sans"/>
            </a:endParaRPr>
          </a:p>
          <a:p>
            <a:pPr marL="1194123" lvl="2" indent="-394023">
              <a:lnSpc>
                <a:spcPct val="114999"/>
              </a:lnSpc>
              <a:buFont typeface="Wingdings"/>
              <a:buChar char="w"/>
              <a:defRPr/>
            </a:pPr>
            <a:r>
              <a:rPr sz="2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Базовые: статистики яркости (среднее, асимметрия, эксцесс).</a:t>
            </a:r>
            <a:endParaRPr sz="2400">
              <a:solidFill>
                <a:schemeClr val="tx1"/>
              </a:solidFill>
              <a:latin typeface="Liberation Sans"/>
              <a:cs typeface="Liberation Sans"/>
            </a:endParaRPr>
          </a:p>
          <a:p>
            <a:pPr marL="1194123" lvl="2" indent="-394023">
              <a:lnSpc>
                <a:spcPct val="114999"/>
              </a:lnSpc>
              <a:buFont typeface="Wingdings"/>
              <a:buChar char="w"/>
              <a:defRPr/>
            </a:pPr>
            <a:r>
              <a:rPr sz="2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Текстурные: </a:t>
            </a:r>
            <a:r>
              <a:rPr sz="2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GLCM-</a:t>
            </a:r>
            <a:r>
              <a:rPr sz="2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признаки (контраст, энергия, однородность).</a:t>
            </a:r>
            <a:endParaRPr sz="2400">
              <a:solidFill>
                <a:schemeClr val="tx1"/>
              </a:solidFill>
              <a:latin typeface="Liberation Sans"/>
              <a:cs typeface="Liberation Sans"/>
            </a:endParaRPr>
          </a:p>
          <a:p>
            <a:pPr marL="1194123" lvl="2" indent="-394023">
              <a:lnSpc>
                <a:spcPct val="114999"/>
              </a:lnSpc>
              <a:buFont typeface="Wingdings"/>
              <a:buChar char="w"/>
              <a:defRPr/>
            </a:pPr>
            <a:r>
              <a:rPr sz="2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Информационные: энтропия Шеннона.</a:t>
            </a:r>
            <a:endParaRPr sz="2400">
              <a:solidFill>
                <a:schemeClr val="tx1"/>
              </a:solidFill>
              <a:latin typeface="Liberation Sans"/>
              <a:cs typeface="Liberation Sans"/>
            </a:endParaRPr>
          </a:p>
          <a:p>
            <a:pPr lvl="1">
              <a:lnSpc>
                <a:spcPct val="114999"/>
              </a:lnSpc>
              <a:defRPr/>
            </a:pPr>
            <a:r>
              <a:rPr sz="2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•</a:t>
            </a:r>
            <a:r>
              <a:rPr sz="2400" b="0" i="0" u="sng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Результат</a:t>
            </a:r>
            <a:r>
              <a:rPr sz="2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: выявлены статистические закономерности, подтверждающие разделимость классов по дистанциям. Сформирован признаковый </a:t>
            </a:r>
            <a:r>
              <a:rPr sz="2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датасет </a:t>
            </a:r>
            <a:r>
              <a:rPr sz="2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texture_features_dataset.xlsx</a:t>
            </a:r>
            <a:endParaRPr sz="2400">
              <a:solidFill>
                <a:schemeClr val="tx1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1183750" name=""/>
          <p:cNvSpPr txBox="1"/>
          <p:nvPr/>
        </p:nvSpPr>
        <p:spPr bwMode="auto">
          <a:xfrm flipH="0" flipV="0">
            <a:off x="439762" y="380999"/>
            <a:ext cx="11324714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 b="0">
                <a:latin typeface="Liberation Sans"/>
                <a:ea typeface="Liberation Sans"/>
                <a:cs typeface="Liberation Sans"/>
              </a:rPr>
              <a:t>Первичный анализ и проверка данных</a:t>
            </a:r>
            <a:endParaRPr sz="4800" b="0">
              <a:latin typeface="Liberation Sans"/>
              <a:cs typeface="Liberation Sans"/>
            </a:endParaRPr>
          </a:p>
        </p:txBody>
      </p:sp>
      <p:sp>
        <p:nvSpPr>
          <p:cNvPr id="1253962665" name=""/>
          <p:cNvSpPr txBox="1"/>
          <p:nvPr/>
        </p:nvSpPr>
        <p:spPr bwMode="auto">
          <a:xfrm flipH="0" flipV="0">
            <a:off x="535348" y="1128118"/>
            <a:ext cx="11123488" cy="559646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14999"/>
              </a:lnSpc>
              <a:defRPr/>
            </a:pPr>
            <a:r>
              <a:rPr sz="2400" b="1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2. Кластеризация:</a:t>
            </a:r>
            <a:endParaRPr sz="2400" b="1" i="0" u="none">
              <a:solidFill>
                <a:srgbClr val="000000"/>
              </a:solidFill>
              <a:latin typeface="Liberation Sans"/>
              <a:cs typeface="Liberation Sans"/>
            </a:endParaRPr>
          </a:p>
          <a:p>
            <a:pPr marL="807165" lvl="1" indent="-349965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Использованы 18-мерные векторы числовых характеристик, полученные на этапе </a:t>
            </a:r>
            <a:r>
              <a:rPr sz="24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EDA</a:t>
            </a:r>
            <a:r>
              <a:rPr sz="24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.</a:t>
            </a:r>
            <a:endParaRPr sz="2400">
              <a:latin typeface="Liberation Sans"/>
              <a:cs typeface="Liberation Sans"/>
            </a:endParaRPr>
          </a:p>
          <a:p>
            <a:pPr marL="807165" lvl="1" indent="-349965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Для анализа структуры данных были применены:</a:t>
            </a:r>
            <a:endParaRPr sz="2400">
              <a:latin typeface="Liberation Sans"/>
              <a:cs typeface="Liberation Sans"/>
            </a:endParaRPr>
          </a:p>
          <a:p>
            <a:pPr marL="1264365" lvl="2" indent="-349965">
              <a:buFont typeface="Wingdings"/>
              <a:buChar char="w"/>
              <a:defRPr/>
            </a:pPr>
            <a:r>
              <a:rPr sz="24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PCA (Анализ главных компонент): Линейное проецирование (объяснённая дисперсия — 65%).</a:t>
            </a:r>
            <a:endParaRPr sz="2400">
              <a:latin typeface="Liberation Sans"/>
              <a:cs typeface="Liberation Sans"/>
            </a:endParaRPr>
          </a:p>
          <a:p>
            <a:pPr marL="1264365" lvl="2" indent="-349965">
              <a:buFont typeface="Wingdings"/>
              <a:buChar char="w"/>
              <a:defRPr/>
            </a:pPr>
            <a:r>
              <a:rPr sz="24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t-SNE (стохастическое вложение соседей): Нелинейное проецирование для сохранения локальной структуры.</a:t>
            </a:r>
            <a:endParaRPr sz="2400">
              <a:latin typeface="Liberation Sans"/>
              <a:cs typeface="Liberation Sans"/>
            </a:endParaRPr>
          </a:p>
          <a:p>
            <a:pPr marL="750015" lvl="1" indent="-349965">
              <a:lnSpc>
                <a:spcPct val="114999"/>
              </a:lnSpc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Для объективной оценки использованы</a:t>
            </a:r>
            <a:r>
              <a:rPr sz="24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4 </a:t>
            </a:r>
            <a:r>
              <a:rPr sz="24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различных метода кластеризации с оценкой по </a:t>
            </a:r>
            <a:r>
              <a:rPr sz="24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Silhouette Score: K-Means</a:t>
            </a:r>
            <a:r>
              <a:rPr sz="24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, </a:t>
            </a:r>
            <a:r>
              <a:rPr sz="24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MeanShift</a:t>
            </a:r>
            <a:r>
              <a:rPr sz="24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, GMM,</a:t>
            </a:r>
            <a:r>
              <a:rPr sz="24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24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Agglomerative Clustering</a:t>
            </a:r>
            <a:r>
              <a:rPr sz="24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.</a:t>
            </a:r>
            <a:endParaRPr sz="2400"/>
          </a:p>
          <a:p>
            <a:pPr marL="750015" lvl="1" indent="-349965">
              <a:lnSpc>
                <a:spcPct val="114999"/>
              </a:lnSpc>
              <a:buFont typeface="Arial"/>
              <a:buChar char="•"/>
              <a:defRPr/>
            </a:pPr>
            <a:endParaRPr sz="2400" b="0" i="0" u="none">
              <a:solidFill>
                <a:srgbClr val="000000"/>
              </a:solidFill>
              <a:latin typeface="Liberation Sans"/>
              <a:ea typeface="Liberation Sans"/>
              <a:cs typeface="Liberation Sans"/>
            </a:endParaRPr>
          </a:p>
          <a:p>
            <a:pPr lvl="0">
              <a:lnSpc>
                <a:spcPct val="114999"/>
              </a:lnSpc>
              <a:defRPr/>
            </a:pPr>
            <a:r>
              <a:rPr sz="2400" b="1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Итог:</a:t>
            </a:r>
            <a:r>
              <a:rPr sz="24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подтверждено, что данные структурированы, коррелируют с дистанциями и пригодны для обучения модели</a:t>
            </a:r>
            <a:endParaRPr sz="2400" b="1" i="0" u="none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990825" name=""/>
          <p:cNvSpPr txBox="1"/>
          <p:nvPr/>
        </p:nvSpPr>
        <p:spPr bwMode="auto">
          <a:xfrm flipH="0" flipV="0">
            <a:off x="439762" y="380999"/>
            <a:ext cx="11336954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 b="0">
                <a:latin typeface="Liberation Sans"/>
                <a:ea typeface="Liberation Sans"/>
                <a:cs typeface="Liberation Sans"/>
              </a:rPr>
              <a:t>Разработка вспомогательных модулей</a:t>
            </a:r>
            <a:endParaRPr sz="4800" b="0">
              <a:latin typeface="Liberation Sans"/>
              <a:cs typeface="Liberation Sans"/>
            </a:endParaRPr>
          </a:p>
        </p:txBody>
      </p:sp>
      <p:sp>
        <p:nvSpPr>
          <p:cNvPr id="884339184" name=""/>
          <p:cNvSpPr txBox="1"/>
          <p:nvPr/>
        </p:nvSpPr>
        <p:spPr bwMode="auto">
          <a:xfrm flipH="0" flipV="0">
            <a:off x="535349" y="1128119"/>
            <a:ext cx="1112312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34656815" name=""/>
          <p:cNvSpPr txBox="1"/>
          <p:nvPr/>
        </p:nvSpPr>
        <p:spPr bwMode="auto">
          <a:xfrm flipH="0" flipV="0">
            <a:off x="412813" y="1494238"/>
            <a:ext cx="11376861" cy="48466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4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Цель: 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автоматизировать процесс получения структурированного набора изображений из видео для расширения и обогащения тренировочных данных.</a:t>
            </a:r>
            <a:endParaRPr sz="2400" b="0" i="0" u="none" strike="noStrike" cap="none" spc="0">
              <a:solidFill>
                <a:schemeClr val="tx1"/>
              </a:solidFill>
              <a:latin typeface="Liberation Sans"/>
              <a:ea typeface="Liberation Sans"/>
              <a:cs typeface="Liberation Sans"/>
            </a:endParaRPr>
          </a:p>
          <a:p>
            <a:pPr algn="l">
              <a:defRPr/>
            </a:pPr>
            <a:r>
              <a:rPr lang="ru-RU" sz="2400" b="1" i="0" u="none" strike="noStrike" cap="non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Метод: 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использована функция VideoCapture из библиотеки opencv для получения данных видео.</a:t>
            </a:r>
            <a:endParaRPr sz="2400" b="0" i="0" u="none" strike="noStrike" cap="none" spc="0">
              <a:solidFill>
                <a:schemeClr val="tx1"/>
              </a:solidFill>
              <a:latin typeface="Liberation Sans"/>
              <a:ea typeface="Liberation Sans"/>
              <a:cs typeface="Liberation Sans"/>
            </a:endParaRPr>
          </a:p>
          <a:p>
            <a:pPr algn="l">
              <a:defRPr/>
            </a:pPr>
            <a:r>
              <a:rPr lang="ru-RU" sz="2400" b="1" i="0" u="none" strike="noStrike" cap="non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Итог: 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разработана утилита для автоматического извлечения кадров и их сортировки по папкам в соответствии с дистанцией.</a:t>
            </a:r>
            <a:endParaRPr sz="2400" b="0">
              <a:solidFill>
                <a:schemeClr val="tx1"/>
              </a:solidFill>
              <a:latin typeface="Liberation Sans"/>
              <a:cs typeface="Liberation Sans"/>
            </a:endParaRPr>
          </a:p>
          <a:p>
            <a:pPr algn="just">
              <a:defRPr/>
            </a:pPr>
            <a:endParaRPr sz="2400">
              <a:solidFill>
                <a:schemeClr val="tx1"/>
              </a:solidFill>
              <a:latin typeface="Liberation Sans"/>
              <a:ea typeface="Liberation Sans"/>
              <a:cs typeface="Liberation Sans"/>
            </a:endParaRPr>
          </a:p>
          <a:p>
            <a:pPr algn="just">
              <a:defRPr/>
            </a:pPr>
            <a:r>
              <a:rPr sz="24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Цель: </a:t>
            </a:r>
            <a:r>
              <a:rPr sz="2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повысить точность и стабильность итогового результата работы системы с помощью пост-обработки </a:t>
            </a:r>
            <a:r>
              <a:rPr sz="240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результатов.</a:t>
            </a:r>
            <a:endParaRPr sz="2400">
              <a:solidFill>
                <a:schemeClr val="tx1"/>
              </a:solidFill>
              <a:latin typeface="Liberation Sans"/>
              <a:ea typeface="Liberation Sans"/>
              <a:cs typeface="Liberation Sans"/>
            </a:endParaRPr>
          </a:p>
          <a:p>
            <a:pPr algn="just">
              <a:defRPr/>
            </a:pPr>
            <a:r>
              <a:rPr sz="24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Метод: </a:t>
            </a:r>
            <a:r>
              <a:rPr sz="2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скользящее среднее</a:t>
            </a:r>
            <a:r>
              <a:rPr sz="2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2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для сглаживания результатов предсказаний модели по последовательности кадров видео, устранение флуктуаций. </a:t>
            </a:r>
            <a:endParaRPr sz="2400">
              <a:solidFill>
                <a:schemeClr val="tx1"/>
              </a:solidFill>
              <a:latin typeface="Liberation Sans"/>
              <a:cs typeface="Liberation Sans"/>
            </a:endParaRPr>
          </a:p>
          <a:p>
            <a:pPr algn="just">
              <a:defRPr/>
            </a:pPr>
            <a:r>
              <a:rPr sz="24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Итог: </a:t>
            </a:r>
            <a:r>
              <a:rPr sz="2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разработан модуль пост-обработки, интегрированный в приложение.</a:t>
            </a:r>
            <a:endParaRPr sz="2400">
              <a:solidFill>
                <a:schemeClr val="tx1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281917" name=""/>
          <p:cNvSpPr txBox="1"/>
          <p:nvPr/>
        </p:nvSpPr>
        <p:spPr bwMode="auto">
          <a:xfrm flipH="0" flipV="0">
            <a:off x="479496" y="3017340"/>
            <a:ext cx="11258923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>
                <a:latin typeface="Liberation Sans"/>
                <a:ea typeface="Liberation Sans"/>
                <a:cs typeface="Liberation Sans"/>
              </a:rPr>
              <a:t>Разработка алгоритма определения расстояния до объекта</a:t>
            </a:r>
            <a:endParaRPr sz="4800"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803277" name=""/>
          <p:cNvSpPr txBox="1"/>
          <p:nvPr/>
        </p:nvSpPr>
        <p:spPr bwMode="auto">
          <a:xfrm flipH="0" flipV="0">
            <a:off x="439762" y="380999"/>
            <a:ext cx="11325074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4800" b="0">
              <a:latin typeface="Liberation Sans"/>
              <a:cs typeface="Liberation Sans"/>
            </a:endParaRPr>
          </a:p>
        </p:txBody>
      </p:sp>
      <p:sp>
        <p:nvSpPr>
          <p:cNvPr id="595345916" name=""/>
          <p:cNvSpPr txBox="1"/>
          <p:nvPr/>
        </p:nvSpPr>
        <p:spPr bwMode="auto">
          <a:xfrm flipH="0" flipV="0">
            <a:off x="535349" y="1128119"/>
            <a:ext cx="1112312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461198513" name=""/>
          <p:cNvSpPr txBox="1"/>
          <p:nvPr/>
        </p:nvSpPr>
        <p:spPr bwMode="auto">
          <a:xfrm flipH="0" flipV="0">
            <a:off x="2154599" y="7696199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527623715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41907" y="476249"/>
            <a:ext cx="11926998" cy="57245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2852952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0" y="1323974"/>
            <a:ext cx="6054192" cy="4895849"/>
          </a:xfrm>
          <a:prstGeom prst="rect">
            <a:avLst/>
          </a:prstGeom>
        </p:spPr>
      </p:pic>
      <p:pic>
        <p:nvPicPr>
          <p:cNvPr id="8310839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153486" y="1323974"/>
            <a:ext cx="6042413" cy="4886325"/>
          </a:xfrm>
          <a:prstGeom prst="rect">
            <a:avLst/>
          </a:prstGeom>
        </p:spPr>
      </p:pic>
      <p:pic>
        <p:nvPicPr>
          <p:cNvPr id="140028258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-85724" y="466724"/>
            <a:ext cx="7796250" cy="857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4621565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29549" y="187441"/>
            <a:ext cx="12096749" cy="62926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3660691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64642" y="457199"/>
            <a:ext cx="11860656" cy="57790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359491" name="PlaceHolder 1"/>
          <p:cNvSpPr>
            <a:spLocks noGrp="1"/>
          </p:cNvSpPr>
          <p:nvPr/>
        </p:nvSpPr>
        <p:spPr bwMode="auto">
          <a:xfrm>
            <a:off x="1305463" y="2235778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vert="horz" lIns="0" tIns="0" rIns="0" bIns="0" rtlCol="0" anchor="ctr">
            <a:noAutofit/>
          </a:bodyPr>
          <a:lstStyle>
            <a:lvl1pPr algn="r" defTabSz="914400">
              <a:spcBef>
                <a:spcPts val="0"/>
              </a:spcBef>
              <a:buNone/>
              <a:defRPr sz="44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4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Детектирование объекта</a:t>
            </a:r>
            <a:endParaRPr sz="72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537540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323855" y="1885950"/>
            <a:ext cx="10011869" cy="44195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Разработка алгоритма детектирования объекта</a:t>
            </a:r>
            <a:endParaRPr lang="ru-RU" sz="3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На вход алгоритму подается 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изображение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 результатом работы 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является ограничивающий прямоугольник объекта на изображении.</a:t>
            </a:r>
            <a:endParaRPr lang="ru-RU" sz="3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51206933" name="PlaceHolder 1"/>
          <p:cNvSpPr>
            <a:spLocks noGrp="1"/>
          </p:cNvSpPr>
          <p:nvPr/>
        </p:nvSpPr>
        <p:spPr bwMode="auto">
          <a:xfrm flipH="0" flipV="0">
            <a:off x="142752" y="758669"/>
            <a:ext cx="9142920" cy="6323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ctr">
              <a:buNone/>
              <a:defRPr/>
            </a:pPr>
            <a:r>
              <a:rPr sz="48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П</a:t>
            </a:r>
            <a:r>
              <a:rPr sz="48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остановка задачи</a:t>
            </a:r>
            <a:endParaRPr sz="4800" b="0" strike="noStrike" spc="0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70634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323855" y="1979729"/>
            <a:ext cx="10583369" cy="44020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Для решения задачи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выбрана модель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YOLOv8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от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ltralitics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Эта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модель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является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одностадийным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детектором,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который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сос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тоит из нескольких частей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входной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слой,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экстрактор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признаков, комбинатор признаков, выходной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предсказывающий слой.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Она обладает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характеристиками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такими, как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</a:t>
            </a:r>
            <a:endParaRPr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•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Высокая скорость</a:t>
            </a:r>
            <a:endParaRPr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•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Точность</a:t>
            </a:r>
            <a:endParaRPr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•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Легкая обучаемость</a:t>
            </a:r>
            <a:endParaRPr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82196271" name="PlaceHolder 1"/>
          <p:cNvSpPr>
            <a:spLocks noGrp="1"/>
          </p:cNvSpPr>
          <p:nvPr/>
        </p:nvSpPr>
        <p:spPr bwMode="auto">
          <a:xfrm flipH="0" flipV="0">
            <a:off x="142752" y="758669"/>
            <a:ext cx="9142920" cy="6323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4800" b="0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Модель</a:t>
            </a:r>
            <a:r>
              <a:rPr lang="ru-RU" sz="4800" b="0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YOLO</a:t>
            </a:r>
            <a:endParaRPr lang="ru-RU" sz="4800" b="0" i="0" u="none" strike="noStrike" cap="none" spc="0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9120402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323855" y="1979730"/>
            <a:ext cx="10440494" cy="434486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Перед обучением модели. 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Набор изображений был поделен 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на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train, valid 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и 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test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 На 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train 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было выделено 130 изображений, на 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valid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и 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test 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 35 изображений. </a:t>
            </a:r>
            <a:endParaRPr lang="ru-RU" sz="3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Затем на этих изображениях был выделен ограничивающий 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прямоугольник телефона 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 помощью 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label studio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 sz="4800" b="0">
              <a:solidFill>
                <a:schemeClr val="tx1"/>
              </a:solidFill>
            </a:endParaRPr>
          </a:p>
        </p:txBody>
      </p:sp>
      <p:sp>
        <p:nvSpPr>
          <p:cNvPr id="2038630570" name="PlaceHolder 1"/>
          <p:cNvSpPr>
            <a:spLocks noGrp="1"/>
          </p:cNvSpPr>
          <p:nvPr/>
        </p:nvSpPr>
        <p:spPr bwMode="auto">
          <a:xfrm flipH="0" flipV="0">
            <a:off x="142752" y="758669"/>
            <a:ext cx="9142920" cy="6323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4800" b="0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Разметка данных</a:t>
            </a:r>
            <a:endParaRPr lang="ru-RU" sz="4800" b="0" i="0" u="none" strike="noStrike" cap="none" spc="0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576601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323855" y="1885948"/>
            <a:ext cx="10011868" cy="44195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30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эпо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х</a:t>
            </a:r>
            <a:endParaRPr lang="ru-RU" sz="3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89668793" name="PlaceHolder 1"/>
          <p:cNvSpPr>
            <a:spLocks noGrp="1"/>
          </p:cNvSpPr>
          <p:nvPr/>
        </p:nvSpPr>
        <p:spPr bwMode="auto">
          <a:xfrm flipH="0" flipV="0">
            <a:off x="142752" y="758669"/>
            <a:ext cx="9142920" cy="6323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4800" b="0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Первое обучение</a:t>
            </a:r>
            <a:endParaRPr lang="ru-RU" sz="4800" b="0" i="0" u="none" strike="noStrike" cap="none" spc="0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  <p:pic>
        <p:nvPicPr>
          <p:cNvPr id="2135327064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7609795" y="1391037"/>
            <a:ext cx="3848128" cy="42858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291018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323855" y="1885948"/>
            <a:ext cx="6344744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Следующее обучение производилось на новом наборе данных из видео. Видео длительностью 50 секунд было нарезано на 50 кадров и поделено на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test, valid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и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train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 После этого данные были размечены в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label studio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 потом произведено обучение.</a:t>
            </a:r>
            <a:endParaRPr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330004376" name="PlaceHolder 1"/>
          <p:cNvSpPr>
            <a:spLocks noGrp="1"/>
          </p:cNvSpPr>
          <p:nvPr/>
        </p:nvSpPr>
        <p:spPr bwMode="auto">
          <a:xfrm flipH="0" flipV="0">
            <a:off x="142752" y="758669"/>
            <a:ext cx="9142920" cy="6323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4800" b="0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Дообучение</a:t>
            </a:r>
            <a:endParaRPr lang="ru-RU" sz="4800" b="0" i="0" u="none" strike="noStrike" cap="none" spc="0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  <p:pic>
        <p:nvPicPr>
          <p:cNvPr id="1697828544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7886700" y="1533524"/>
            <a:ext cx="3620432" cy="4438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358196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323855" y="1885948"/>
            <a:ext cx="6697169" cy="459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Были использованы такие аугментации как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</a:t>
            </a:r>
            <a:endParaRPr lang="ru-RU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Встроенные в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YOLO: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поворот, перспектива, сдвиг, мозаика, изменения яркости и контраста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 lang="ru-RU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Реализованные отдельно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фон рабочего стола и блики. В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bounding box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вставляется картинка с бликами или имитирующая рабочий стол.</a:t>
            </a:r>
            <a:endParaRPr lang="ru-RU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518325086" name="PlaceHolder 1"/>
          <p:cNvSpPr>
            <a:spLocks noGrp="1"/>
          </p:cNvSpPr>
          <p:nvPr/>
        </p:nvSpPr>
        <p:spPr bwMode="auto">
          <a:xfrm flipH="0" flipV="0">
            <a:off x="142752" y="758669"/>
            <a:ext cx="9142920" cy="6323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4800" b="0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Аугментация</a:t>
            </a:r>
            <a:endParaRPr/>
          </a:p>
        </p:txBody>
      </p:sp>
      <p:pic>
        <p:nvPicPr>
          <p:cNvPr id="2106115454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8478850" y="2305049"/>
            <a:ext cx="3341673" cy="3200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790804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323855" y="1781174"/>
            <a:ext cx="8859344" cy="454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•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Быстро обрабатывает изображение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в среднем 25 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мс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на кадр без дополнительных вызовов функций.</a:t>
            </a:r>
            <a:endParaRPr sz="3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•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Устойчива к изменениям освещения и сложному фону, благодаря аугментации</a:t>
            </a:r>
            <a:endParaRPr sz="3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•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Создан модуль для детектирования объектов</a:t>
            </a:r>
            <a:endParaRPr sz="3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42864789" name="PlaceHolder 1"/>
          <p:cNvSpPr>
            <a:spLocks noGrp="1"/>
          </p:cNvSpPr>
          <p:nvPr/>
        </p:nvSpPr>
        <p:spPr bwMode="auto">
          <a:xfrm flipH="0" flipV="0">
            <a:off x="142752" y="758669"/>
            <a:ext cx="9142920" cy="6323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4800" b="0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Итог </a:t>
            </a:r>
            <a:endParaRPr lang="ru-RU" sz="4800" b="0" i="0" u="none" strike="noStrike" cap="none" spc="0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032757" name=""/>
          <p:cNvSpPr/>
          <p:nvPr/>
        </p:nvSpPr>
        <p:spPr bwMode="auto">
          <a:xfrm>
            <a:off x="2324649" y="2461259"/>
            <a:ext cx="7547020" cy="36884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5450" b="0" i="0" u="none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Разработк алгоритма </a:t>
            </a:r>
            <a:r>
              <a:rPr sz="545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  <a:t>Разработка алгоритма трекинга</a:t>
            </a:r>
            <a:r>
              <a:rPr sz="5450" b="0" i="0" u="none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 </a:t>
            </a:r>
            <a:br>
              <a:rPr sz="5450" b="0" i="0" u="none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</a:br>
            <a:br>
              <a:rPr sz="5450" b="0" i="0" u="none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</a:b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8704357" name=""/>
          <p:cNvSpPr/>
          <p:nvPr/>
        </p:nvSpPr>
        <p:spPr bwMode="auto">
          <a:xfrm flipH="0" flipV="0">
            <a:off x="3972899" y="674370"/>
            <a:ext cx="7089119" cy="9147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36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  <a:t>Постановка задачи</a:t>
            </a:r>
            <a:br>
              <a:rPr sz="26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</a:br>
            <a:endParaRPr/>
          </a:p>
        </p:txBody>
      </p:sp>
      <p:sp>
        <p:nvSpPr>
          <p:cNvPr id="170194012" name=""/>
          <p:cNvSpPr/>
          <p:nvPr/>
        </p:nvSpPr>
        <p:spPr bwMode="auto">
          <a:xfrm flipH="0" flipV="0">
            <a:off x="550199" y="1714498"/>
            <a:ext cx="3654540" cy="2042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2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  <a:t>Разработать программное решение для отслеживания объекта в видеопотоке, используя алгоритм Meanshift</a:t>
            </a:r>
            <a:br>
              <a:rPr sz="12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</a:br>
            <a:endParaRPr/>
          </a:p>
        </p:txBody>
      </p:sp>
      <p:pic>
        <p:nvPicPr>
          <p:cNvPr id="1410268371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877049" y="1771650"/>
            <a:ext cx="4314825" cy="37242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707628" name=""/>
          <p:cNvSpPr/>
          <p:nvPr/>
        </p:nvSpPr>
        <p:spPr bwMode="auto">
          <a:xfrm flipH="0" flipV="0">
            <a:off x="1467824" y="721994"/>
            <a:ext cx="8736584" cy="7928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600" b="0" i="0" u="none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                           </a:t>
            </a:r>
            <a:r>
              <a:rPr sz="28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  <a:t>Методы решения задачи</a:t>
            </a:r>
            <a:br>
              <a:rPr sz="26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</a:br>
            <a:endParaRPr/>
          </a:p>
        </p:txBody>
      </p:sp>
      <p:sp>
        <p:nvSpPr>
          <p:cNvPr id="433664964" name=""/>
          <p:cNvSpPr/>
          <p:nvPr/>
        </p:nvSpPr>
        <p:spPr bwMode="auto">
          <a:xfrm flipH="0" flipV="0">
            <a:off x="139346" y="1514835"/>
            <a:ext cx="5112783" cy="1661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9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  <a:t>Meanshift</a:t>
            </a:r>
            <a:br>
              <a:rPr sz="19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</a:br>
            <a:endParaRPr/>
          </a:p>
          <a:p>
            <a:pPr>
              <a:defRPr/>
            </a:pPr>
            <a:r>
              <a:rPr sz="16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  <a:t>Алгоритм выбора среднего - классический, быстрый алгоритм компьютерного зрения.</a:t>
            </a:r>
            <a:endParaRPr/>
          </a:p>
          <a:p>
            <a:pPr>
              <a:defRPr/>
            </a:pPr>
            <a:r>
              <a:rPr sz="16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  <a:t>Основной помощник в поиске объекта</a:t>
            </a:r>
            <a:br>
              <a:rPr sz="16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</a:br>
            <a:endParaRPr/>
          </a:p>
        </p:txBody>
      </p:sp>
      <p:pic>
        <p:nvPicPr>
          <p:cNvPr id="720886566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381974" y="3486149"/>
            <a:ext cx="3333749" cy="2305049"/>
          </a:xfrm>
          <a:prstGeom prst="rect">
            <a:avLst/>
          </a:prstGeom>
        </p:spPr>
      </p:pic>
      <p:sp>
        <p:nvSpPr>
          <p:cNvPr id="1609579225" name=""/>
          <p:cNvSpPr/>
          <p:nvPr/>
        </p:nvSpPr>
        <p:spPr bwMode="auto">
          <a:xfrm>
            <a:off x="7877198" y="1514835"/>
            <a:ext cx="2019613" cy="655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9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  <a:t>Детектор YOLO</a:t>
            </a:r>
            <a:br>
              <a:rPr sz="19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</a:br>
            <a:endParaRPr/>
          </a:p>
        </p:txBody>
      </p:sp>
      <p:sp>
        <p:nvSpPr>
          <p:cNvPr id="151295992" name=""/>
          <p:cNvSpPr/>
          <p:nvPr/>
        </p:nvSpPr>
        <p:spPr bwMode="auto">
          <a:xfrm flipH="0" flipV="0">
            <a:off x="7058291" y="2170514"/>
            <a:ext cx="4754497" cy="7318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4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  <a:t>Инициализация начальных координат объекта.Перезапускается каждые 5 секунд при потере объекта</a:t>
            </a:r>
            <a:endParaRPr/>
          </a:p>
        </p:txBody>
      </p:sp>
      <p:pic>
        <p:nvPicPr>
          <p:cNvPr id="101035566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600825" y="3819524"/>
            <a:ext cx="2428875" cy="1914525"/>
          </a:xfrm>
          <a:prstGeom prst="rect">
            <a:avLst/>
          </a:prstGeom>
        </p:spPr>
      </p:pic>
      <p:pic>
        <p:nvPicPr>
          <p:cNvPr id="9991580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277349" y="3819524"/>
            <a:ext cx="2343150" cy="1914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190698" name=""/>
          <p:cNvSpPr/>
          <p:nvPr/>
        </p:nvSpPr>
        <p:spPr bwMode="auto">
          <a:xfrm>
            <a:off x="3869435" y="493394"/>
            <a:ext cx="4091538" cy="7623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6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  <a:t>Методы решения задачи</a:t>
            </a:r>
            <a:br>
              <a:rPr sz="26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</a:br>
            <a:endParaRPr/>
          </a:p>
        </p:txBody>
      </p:sp>
      <p:sp>
        <p:nvSpPr>
          <p:cNvPr id="1276683917" name=""/>
          <p:cNvSpPr/>
          <p:nvPr/>
        </p:nvSpPr>
        <p:spPr bwMode="auto">
          <a:xfrm>
            <a:off x="767736" y="1144904"/>
            <a:ext cx="2827337" cy="4880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6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  <a:t>Фильтр Калмана</a:t>
            </a:r>
            <a:endParaRPr/>
          </a:p>
        </p:txBody>
      </p:sp>
      <p:sp>
        <p:nvSpPr>
          <p:cNvPr id="1208962912" name=""/>
          <p:cNvSpPr/>
          <p:nvPr/>
        </p:nvSpPr>
        <p:spPr bwMode="auto">
          <a:xfrm flipH="0" flipV="0">
            <a:off x="629624" y="1828800"/>
            <a:ext cx="9659790" cy="128052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 sz="2000"/>
          </a:p>
          <a:p>
            <a:pPr>
              <a:defRPr/>
            </a:pPr>
            <a:r>
              <a:rPr sz="20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  <a:t>Способствовал фильтрации данных; фильтрация результатов детектирования.</a:t>
            </a:r>
            <a:endParaRPr sz="2000" b="0" i="0" u="none">
              <a:solidFill>
                <a:srgbClr val="13332D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20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  <a:t>Результат: сглаживание полученной траектории</a:t>
            </a:r>
            <a:br>
              <a:rPr sz="16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</a:b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382081" name=""/>
          <p:cNvSpPr/>
          <p:nvPr/>
        </p:nvSpPr>
        <p:spPr bwMode="auto">
          <a:xfrm flipH="0" flipV="0">
            <a:off x="1601174" y="481963"/>
            <a:ext cx="8391186" cy="8080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6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  <a:t>               Сравнение производительности</a:t>
            </a:r>
            <a:br>
              <a:rPr sz="26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</a:br>
            <a:r>
              <a:rPr sz="26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  <a:t>(среднее время обработки и средняя скорость одного </a:t>
            </a:r>
            <a:r>
              <a:rPr sz="21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  <a:t>кадра)</a:t>
            </a:r>
            <a:endParaRPr sz="2100" b="0" i="0" u="none">
              <a:solidFill>
                <a:srgbClr val="13332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305671" name=""/>
          <p:cNvSpPr/>
          <p:nvPr/>
        </p:nvSpPr>
        <p:spPr bwMode="auto">
          <a:xfrm flipH="0" flipV="0">
            <a:off x="934425" y="1485899"/>
            <a:ext cx="3826919" cy="32007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br>
              <a:rPr/>
            </a:br>
            <a:endParaRPr/>
          </a:p>
          <a:p>
            <a:pPr marL="261850" indent="-261850">
              <a:buAutoNum type="arabicParenR"/>
              <a:defRPr/>
            </a:pPr>
            <a:r>
              <a:rPr sz="16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  <a:t>видео (расстояние 50-90)</a:t>
            </a:r>
            <a:endParaRPr sz="1600" b="0" i="0" u="none">
              <a:solidFill>
                <a:srgbClr val="13332D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br>
              <a:rPr sz="16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</a:b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sz="16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  <a:t>2) видео(расстояние 110-230)</a:t>
            </a:r>
            <a:endParaRPr sz="1600" b="0" i="0" u="none">
              <a:solidFill>
                <a:srgbClr val="13332D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br>
              <a:rPr sz="16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</a:b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 sz="1600" b="0" i="0" u="none">
              <a:solidFill>
                <a:srgbClr val="13332D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  <a:t>3) видео(расстояние 70-230)</a:t>
            </a:r>
            <a:endParaRPr/>
          </a:p>
        </p:txBody>
      </p:sp>
      <p:sp>
        <p:nvSpPr>
          <p:cNvPr id="650888983" name=""/>
          <p:cNvSpPr/>
          <p:nvPr/>
        </p:nvSpPr>
        <p:spPr bwMode="auto">
          <a:xfrm flipH="0" flipV="0">
            <a:off x="6747973" y="1436369"/>
            <a:ext cx="4312245" cy="3051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4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  <a:t>Детектор                                Трекер+калман</a:t>
            </a:r>
            <a:endParaRPr/>
          </a:p>
        </p:txBody>
      </p:sp>
      <p:sp>
        <p:nvSpPr>
          <p:cNvPr id="962396279" name=""/>
          <p:cNvSpPr/>
          <p:nvPr/>
        </p:nvSpPr>
        <p:spPr bwMode="auto">
          <a:xfrm flipH="0" flipV="0">
            <a:off x="6541688" y="2028824"/>
            <a:ext cx="1644792" cy="2834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4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  <a:t>815мс     1.25 fps</a:t>
            </a:r>
            <a:br>
              <a:rPr sz="14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</a:br>
            <a:br>
              <a:rPr sz="14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</a:br>
            <a:br>
              <a:rPr sz="14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</a:br>
            <a:br>
              <a:rPr sz="14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</a:br>
            <a:endParaRPr/>
          </a:p>
          <a:p>
            <a:pPr>
              <a:defRPr/>
            </a:pPr>
            <a:r>
              <a:rPr sz="14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  <a:t>790мс     1.27 fps</a:t>
            </a:r>
            <a:br>
              <a:rPr sz="14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</a:br>
            <a:br>
              <a:rPr sz="14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</a:br>
            <a:br>
              <a:rPr sz="14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</a:br>
            <a:br>
              <a:rPr sz="14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</a:br>
            <a:endParaRPr/>
          </a:p>
          <a:p>
            <a:pPr>
              <a:defRPr/>
            </a:pPr>
            <a:r>
              <a:rPr sz="14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  <a:t>840мс     1.19 fps</a:t>
            </a:r>
            <a:br>
              <a:rPr sz="14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</a:br>
            <a:endParaRPr/>
          </a:p>
        </p:txBody>
      </p:sp>
      <p:sp>
        <p:nvSpPr>
          <p:cNvPr id="1977473748" name=""/>
          <p:cNvSpPr/>
          <p:nvPr/>
        </p:nvSpPr>
        <p:spPr bwMode="auto">
          <a:xfrm>
            <a:off x="9046763" y="2057400"/>
            <a:ext cx="1642632" cy="2834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4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  <a:t>2.36мс     423 fps</a:t>
            </a:r>
            <a:br>
              <a:rPr sz="14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</a:br>
            <a:br>
              <a:rPr sz="14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</a:br>
            <a:br>
              <a:rPr sz="14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</a:br>
            <a:br>
              <a:rPr sz="14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</a:br>
            <a:endParaRPr/>
          </a:p>
          <a:p>
            <a:pPr>
              <a:defRPr/>
            </a:pPr>
            <a:r>
              <a:rPr sz="14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  <a:t>2.88мс     347 fps</a:t>
            </a:r>
            <a:br>
              <a:rPr sz="14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</a:br>
            <a:br>
              <a:rPr sz="14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</a:br>
            <a:br>
              <a:rPr sz="14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</a:br>
            <a:br>
              <a:rPr sz="14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</a:br>
            <a:endParaRPr/>
          </a:p>
          <a:p>
            <a:pPr>
              <a:defRPr/>
            </a:pPr>
            <a:r>
              <a:rPr sz="14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  <a:t>3.09мс     329 fps</a:t>
            </a:r>
            <a:br>
              <a:rPr sz="1400" b="0" i="0" u="none">
                <a:solidFill>
                  <a:srgbClr val="13332D"/>
                </a:solidFill>
                <a:latin typeface="Arial"/>
                <a:ea typeface="Arial"/>
                <a:cs typeface="Arial"/>
              </a:rPr>
            </a:b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7361391" name=""/>
          <p:cNvSpPr/>
          <p:nvPr/>
        </p:nvSpPr>
        <p:spPr bwMode="auto">
          <a:xfrm>
            <a:off x="2348152" y="598169"/>
            <a:ext cx="7134824" cy="7623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6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  <a:t>Финальный алгоритм работы отслеживания:</a:t>
            </a:r>
            <a:br>
              <a:rPr sz="26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</a:br>
            <a:endParaRPr/>
          </a:p>
        </p:txBody>
      </p:sp>
      <p:sp>
        <p:nvSpPr>
          <p:cNvPr id="1187119790" name=""/>
          <p:cNvSpPr/>
          <p:nvPr/>
        </p:nvSpPr>
        <p:spPr bwMode="auto">
          <a:xfrm flipH="0" flipV="0">
            <a:off x="2630117" y="1360529"/>
            <a:ext cx="6934643" cy="40541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0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  <a:t>С помощью YOLO находим положение объекта на 1 кадре</a:t>
            </a:r>
            <a:br>
              <a:rPr sz="20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</a:br>
            <a:endParaRPr sz="2000"/>
          </a:p>
          <a:p>
            <a:pPr>
              <a:defRPr/>
            </a:pPr>
            <a:r>
              <a:rPr sz="20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  <a:t>Передаем данные  Meanshift</a:t>
            </a:r>
            <a:br>
              <a:rPr sz="20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</a:br>
            <a:endParaRPr sz="2000"/>
          </a:p>
          <a:p>
            <a:pPr>
              <a:defRPr/>
            </a:pPr>
            <a:r>
              <a:rPr sz="20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  <a:t>Meanshift отслеживает объект</a:t>
            </a:r>
            <a:br>
              <a:rPr sz="20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</a:br>
            <a:endParaRPr sz="2000"/>
          </a:p>
          <a:p>
            <a:pPr>
              <a:defRPr/>
            </a:pPr>
            <a:r>
              <a:rPr sz="20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  <a:t>Фильтр Калмана корректирует предсказание и сглаживает результат</a:t>
            </a:r>
            <a:br>
              <a:rPr sz="20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</a:br>
            <a:endParaRPr sz="2000"/>
          </a:p>
          <a:p>
            <a:pPr>
              <a:defRPr/>
            </a:pPr>
            <a:r>
              <a:rPr sz="20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  <a:t>Раз в 5 секунд детектор запускается и корректирует положение прямоугольник</a:t>
            </a:r>
            <a:r>
              <a:rPr sz="22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  <a:t>а</a:t>
            </a:r>
            <a:br>
              <a:rPr sz="1400" b="0" i="0" u="none">
                <a:solidFill>
                  <a:srgbClr val="13332D"/>
                </a:solidFill>
                <a:latin typeface="Liberation Sans"/>
                <a:ea typeface="Liberation Sans"/>
                <a:cs typeface="Liberation Sans"/>
              </a:rPr>
            </a:b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230505" name="PlaceHolder 1"/>
          <p:cNvSpPr>
            <a:spLocks noGrp="1"/>
          </p:cNvSpPr>
          <p:nvPr/>
        </p:nvSpPr>
        <p:spPr bwMode="auto">
          <a:xfrm>
            <a:off x="1305462" y="2235777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vert="horz" lIns="0" tIns="0" rIns="0" bIns="0" rtlCol="0" anchor="ctr">
            <a:noAutofit/>
          </a:bodyPr>
          <a:lstStyle>
            <a:lvl1pPr algn="r" defTabSz="914400">
              <a:spcBef>
                <a:spcPts val="0"/>
              </a:spcBef>
              <a:buNone/>
              <a:defRPr sz="44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4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Сборка проекта</a:t>
            </a:r>
            <a:endParaRPr sz="48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-552570" y="476248"/>
            <a:ext cx="9142920" cy="63236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ctr">
              <a:buNone/>
              <a:defRPr/>
            </a:pPr>
            <a:r>
              <a:rPr sz="4800" b="0" strike="noStrike" spc="-1">
                <a:solidFill>
                  <a:srgbClr val="000000"/>
                </a:solidFill>
                <a:latin typeface="Liberation Sans"/>
                <a:cs typeface="Liberation Sans"/>
              </a:rPr>
              <a:t>Задачи:</a:t>
            </a:r>
            <a:endParaRPr sz="4800" b="0" strike="noStrike" spc="-1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 bwMode="auto">
          <a:xfrm flipH="0" flipV="0">
            <a:off x="1133352" y="1345422"/>
            <a:ext cx="8383096" cy="509347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l">
              <a:defRPr/>
            </a:pPr>
            <a:r>
              <a:rPr sz="2400" b="0" strike="noStrike" spc="0">
                <a:solidFill>
                  <a:srgbClr val="000000"/>
                </a:solidFill>
                <a:latin typeface="Liberation Sans"/>
                <a:cs typeface="Liberation Sans"/>
              </a:rPr>
              <a:t>Общая сборка проекта, подключение трекера и моделей классификации и детектирования.</a:t>
            </a:r>
            <a:endParaRPr sz="2400" b="0" strike="noStrike" spc="0">
              <a:solidFill>
                <a:srgbClr val="000000"/>
              </a:solidFill>
              <a:latin typeface="Liberation Sans"/>
              <a:cs typeface="Liberation Sans"/>
            </a:endParaRPr>
          </a:p>
          <a:p>
            <a:pPr marL="0" indent="0" algn="l">
              <a:buFont typeface="Arial"/>
              <a:buNone/>
              <a:defRPr/>
            </a:pPr>
            <a:endParaRPr sz="2400" b="0" strike="noStrike" spc="0">
              <a:solidFill>
                <a:srgbClr val="000000"/>
              </a:solidFill>
              <a:latin typeface="Liberation Sans"/>
              <a:cs typeface="Liberation Sans"/>
            </a:endParaRPr>
          </a:p>
          <a:p>
            <a:pPr algn="l">
              <a:defRPr/>
            </a:pPr>
            <a:r>
              <a:rPr sz="2400" b="0" strike="noStrike" spc="0">
                <a:solidFill>
                  <a:srgbClr val="000000"/>
                </a:solidFill>
                <a:latin typeface="Liberation Sans"/>
                <a:cs typeface="Liberation Sans"/>
              </a:rPr>
              <a:t>Разработка визуального интерфейса.</a:t>
            </a:r>
            <a:endParaRPr sz="2400" b="0" strike="noStrike" spc="0">
              <a:solidFill>
                <a:srgbClr val="000000"/>
              </a:solidFill>
              <a:latin typeface="Liberation Sans"/>
              <a:cs typeface="Liberation Sans"/>
            </a:endParaRPr>
          </a:p>
          <a:p>
            <a:pPr algn="l">
              <a:defRPr/>
            </a:pPr>
            <a:endParaRPr sz="2400" b="0" strike="noStrike" spc="0">
              <a:solidFill>
                <a:srgbClr val="000000"/>
              </a:solidFill>
              <a:latin typeface="Liberation Sans"/>
              <a:cs typeface="Liberation Sans"/>
            </a:endParaRPr>
          </a:p>
          <a:p>
            <a:pPr algn="l">
              <a:defRPr/>
            </a:pPr>
            <a:r>
              <a:rPr sz="2400" b="0" strike="noStrike" spc="0">
                <a:solidFill>
                  <a:srgbClr val="000000"/>
                </a:solidFill>
                <a:latin typeface="Liberation Sans"/>
                <a:cs typeface="Liberation Sans"/>
              </a:rPr>
              <a:t>Р</a:t>
            </a:r>
            <a:r>
              <a:rPr sz="2400" b="0" strike="noStrike" spc="0">
                <a:solidFill>
                  <a:srgbClr val="000000"/>
                </a:solidFill>
                <a:latin typeface="Liberation Sans"/>
                <a:cs typeface="Liberation Sans"/>
              </a:rPr>
              <a:t>еализация возможности обработки кадров из видеофайла.</a:t>
            </a:r>
            <a:endParaRPr sz="2400" b="0" strike="noStrike" spc="0">
              <a:solidFill>
                <a:srgbClr val="000000"/>
              </a:solidFill>
              <a:latin typeface="Liberation Sans"/>
              <a:cs typeface="Liberation Sans"/>
            </a:endParaRPr>
          </a:p>
          <a:p>
            <a:pPr marL="0" indent="0" algn="l">
              <a:buFont typeface="Arial"/>
              <a:buNone/>
              <a:defRPr/>
            </a:pPr>
            <a:endParaRPr sz="2400" b="0" strike="noStrike" spc="0">
              <a:solidFill>
                <a:srgbClr val="000000"/>
              </a:solidFill>
              <a:latin typeface="Liberation Sans"/>
              <a:cs typeface="Liberation Sans"/>
            </a:endParaRPr>
          </a:p>
          <a:p>
            <a:pPr algn="l">
              <a:defRPr/>
            </a:pPr>
            <a:r>
              <a:rPr sz="2400" b="0" strike="noStrike" spc="0">
                <a:solidFill>
                  <a:srgbClr val="000000"/>
                </a:solidFill>
                <a:latin typeface="Liberation Sans"/>
                <a:cs typeface="Liberation Sans"/>
              </a:rPr>
              <a:t>Построение графиков изменения расстояния до объекта и положения его центра по результатам детектирования.</a:t>
            </a:r>
            <a:endParaRPr sz="2400" b="0" strike="noStrike" spc="0">
              <a:solidFill>
                <a:srgbClr val="000000"/>
              </a:solidFill>
              <a:latin typeface="Liberation Sans"/>
              <a:cs typeface="Liberation Sans"/>
            </a:endParaRPr>
          </a:p>
          <a:p>
            <a:pPr algn="l">
              <a:defRPr/>
            </a:pPr>
            <a:endParaRPr sz="2400" b="0" strike="noStrike" spc="0">
              <a:solidFill>
                <a:srgbClr val="000000"/>
              </a:solidFill>
              <a:latin typeface="Liberation Sans"/>
              <a:cs typeface="Liberation Sans"/>
            </a:endParaRPr>
          </a:p>
          <a:p>
            <a:pPr algn="l">
              <a:defRPr/>
            </a:pPr>
            <a:r>
              <a:rPr sz="2400" b="0" strike="noStrike" spc="0">
                <a:solidFill>
                  <a:srgbClr val="000000"/>
                </a:solidFill>
                <a:latin typeface="Liberation Sans"/>
                <a:cs typeface="Liberation Sans"/>
              </a:rPr>
              <a:t>Организация многопоточности.</a:t>
            </a:r>
            <a:endParaRPr sz="2400" b="0" strike="noStrike" spc="0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300561" name="PlaceHolder 2"/>
          <p:cNvSpPr>
            <a:spLocks noGrp="1"/>
          </p:cNvSpPr>
          <p:nvPr>
            <p:ph type="subTitle"/>
          </p:nvPr>
        </p:nvSpPr>
        <p:spPr bwMode="auto">
          <a:xfrm flipH="0" flipV="0">
            <a:off x="80546" y="1180364"/>
            <a:ext cx="8951101" cy="3067783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Autofit/>
          </a:bodyPr>
          <a:p>
            <a:pPr marL="305908" indent="-305908">
              <a:buFont typeface="Arial"/>
              <a:buChar char="•"/>
              <a:defRPr/>
            </a:pPr>
            <a:r>
              <a:rPr sz="1800" b="1">
                <a:solidFill>
                  <a:schemeClr val="tx1"/>
                </a:solidFill>
              </a:rPr>
              <a:t>MetrologyAI (main_window.py)</a:t>
            </a:r>
            <a:r>
              <a:rPr sz="1800" b="1">
                <a:solidFill>
                  <a:schemeClr val="tx1"/>
                </a:solidFill>
              </a:rPr>
              <a:t> </a:t>
            </a:r>
            <a:r>
              <a:rPr sz="1800">
                <a:solidFill>
                  <a:schemeClr val="tx1"/>
                </a:solidFill>
              </a:rPr>
              <a:t>- </a:t>
            </a:r>
            <a:r>
              <a:rPr sz="1800">
                <a:solidFill>
                  <a:schemeClr val="tx1"/>
                </a:solidFill>
              </a:rPr>
              <a:t>главное окно, координатор всех компонентов</a:t>
            </a:r>
            <a:endParaRPr sz="1800">
              <a:solidFill>
                <a:schemeClr val="tx1"/>
              </a:solidFill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sz="1800" b="1">
                <a:solidFill>
                  <a:schemeClr val="tx1"/>
                </a:solidFill>
              </a:rPr>
              <a:t>VisualizationTab</a:t>
            </a:r>
            <a:r>
              <a:rPr sz="1800" b="1">
                <a:solidFill>
                  <a:schemeClr val="tx1"/>
                </a:solidFill>
              </a:rPr>
              <a:t> (visualisation_tab.py) </a:t>
            </a:r>
            <a:r>
              <a:rPr sz="1800">
                <a:solidFill>
                  <a:schemeClr val="tx1"/>
                </a:solidFill>
              </a:rPr>
              <a:t>- </a:t>
            </a:r>
            <a:r>
              <a:rPr sz="1800">
                <a:solidFill>
                  <a:schemeClr val="tx1"/>
                </a:solidFill>
              </a:rPr>
              <a:t>вкладка с видео и данными о детектировании</a:t>
            </a:r>
            <a:endParaRPr sz="1800">
              <a:solidFill>
                <a:schemeClr val="tx1"/>
              </a:solidFill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sz="1800" b="1">
                <a:solidFill>
                  <a:schemeClr val="tx1"/>
                </a:solidFill>
              </a:rPr>
              <a:t>CalculationsTab</a:t>
            </a:r>
            <a:r>
              <a:rPr lang="ru-RU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(calculations_tab.py)</a:t>
            </a:r>
            <a:r>
              <a:rPr sz="1800" b="1">
                <a:solidFill>
                  <a:schemeClr val="tx1"/>
                </a:solidFill>
              </a:rPr>
              <a:t> </a:t>
            </a:r>
            <a:r>
              <a:rPr sz="1800">
                <a:solidFill>
                  <a:schemeClr val="tx1"/>
                </a:solidFill>
              </a:rPr>
              <a:t>- </a:t>
            </a:r>
            <a:r>
              <a:rPr sz="1800">
                <a:solidFill>
                  <a:schemeClr val="tx1"/>
                </a:solidFill>
              </a:rPr>
              <a:t>вкладка с графиками площади и положения</a:t>
            </a:r>
            <a:endParaRPr sz="1800">
              <a:solidFill>
                <a:schemeClr val="tx1"/>
              </a:solidFill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sz="1800" b="1">
                <a:solidFill>
                  <a:schemeClr val="tx1"/>
                </a:solidFill>
              </a:rPr>
              <a:t>VideoStream</a:t>
            </a:r>
            <a:r>
              <a:rPr lang="ru-RU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(video_stream.py)</a:t>
            </a:r>
            <a:r>
              <a:rPr sz="1800">
                <a:solidFill>
                  <a:schemeClr val="tx1"/>
                </a:solidFill>
              </a:rPr>
              <a:t> </a:t>
            </a:r>
            <a:r>
              <a:rPr sz="1800">
                <a:solidFill>
                  <a:schemeClr val="tx1"/>
                </a:solidFill>
              </a:rPr>
              <a:t>- </a:t>
            </a:r>
            <a:r>
              <a:rPr sz="1800">
                <a:solidFill>
                  <a:schemeClr val="tx1"/>
                </a:solidFill>
              </a:rPr>
              <a:t>многопоточный захват видео (камера/файл)</a:t>
            </a:r>
            <a:endParaRPr sz="1800">
              <a:solidFill>
                <a:schemeClr val="tx1"/>
              </a:solidFill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sz="1800" b="1">
                <a:solidFill>
                  <a:schemeClr val="tx1"/>
                </a:solidFill>
              </a:rPr>
              <a:t>ProcessingWorker</a:t>
            </a:r>
            <a:r>
              <a:rPr lang="ru-RU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(processing.py)</a:t>
            </a:r>
            <a:r>
              <a:rPr sz="1800" b="1">
                <a:solidFill>
                  <a:schemeClr val="tx1"/>
                </a:solidFill>
              </a:rPr>
              <a:t> </a:t>
            </a:r>
            <a:r>
              <a:rPr sz="1800">
                <a:solidFill>
                  <a:schemeClr val="tx1"/>
                </a:solidFill>
              </a:rPr>
              <a:t>- </a:t>
            </a:r>
            <a:r>
              <a:rPr sz="1800">
                <a:solidFill>
                  <a:schemeClr val="tx1"/>
                </a:solidFill>
              </a:rPr>
              <a:t>рабочий поток обработки кадров (QThread)</a:t>
            </a:r>
            <a:endParaRPr sz="1800">
              <a:solidFill>
                <a:schemeClr val="tx1"/>
              </a:solidFill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sz="1800" b="1">
                <a:solidFill>
                  <a:schemeClr val="tx1"/>
                </a:solidFill>
              </a:rPr>
              <a:t>MyTracker</a:t>
            </a:r>
            <a:r>
              <a:rPr lang="ru-RU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(tracker.py)</a:t>
            </a:r>
            <a:r>
              <a:rPr sz="1800" b="1">
                <a:solidFill>
                  <a:schemeClr val="tx1"/>
                </a:solidFill>
              </a:rPr>
              <a:t> </a:t>
            </a:r>
            <a:r>
              <a:rPr sz="1800">
                <a:solidFill>
                  <a:schemeClr val="tx1"/>
                </a:solidFill>
              </a:rPr>
              <a:t>- </a:t>
            </a:r>
            <a:r>
              <a:rPr sz="1800">
                <a:solidFill>
                  <a:schemeClr val="tx1"/>
                </a:solidFill>
              </a:rPr>
              <a:t>гибридный трекер (MeanShift + Kalman Filter)</a:t>
            </a:r>
            <a:endParaRPr sz="1800">
              <a:solidFill>
                <a:schemeClr val="tx1"/>
              </a:solidFill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sz="1800" b="1">
                <a:solidFill>
                  <a:schemeClr val="tx1"/>
                </a:solidFill>
              </a:rPr>
              <a:t>DetectionProcessor</a:t>
            </a:r>
            <a:r>
              <a:rPr lang="ru-RU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(detection.py)</a:t>
            </a:r>
            <a:r>
              <a:rPr sz="1800" b="1">
                <a:solidFill>
                  <a:schemeClr val="tx1"/>
                </a:solidFill>
              </a:rPr>
              <a:t> </a:t>
            </a:r>
            <a:r>
              <a:rPr sz="1800">
                <a:solidFill>
                  <a:schemeClr val="tx1"/>
                </a:solidFill>
              </a:rPr>
              <a:t>- </a:t>
            </a:r>
            <a:r>
              <a:rPr sz="1800">
                <a:solidFill>
                  <a:schemeClr val="tx1"/>
                </a:solidFill>
              </a:rPr>
              <a:t>детектирование объектов с YOLO</a:t>
            </a:r>
            <a:endParaRPr sz="1800">
              <a:solidFill>
                <a:schemeClr val="tx1"/>
              </a:solidFill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sz="1800" b="1">
                <a:solidFill>
                  <a:schemeClr val="tx1"/>
                </a:solidFill>
              </a:rPr>
              <a:t>ClassificationModel</a:t>
            </a:r>
            <a:r>
              <a:rPr lang="ru-RU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(classification.py)</a:t>
            </a:r>
            <a:r>
              <a:rPr sz="1800" b="1">
                <a:solidFill>
                  <a:schemeClr val="tx1"/>
                </a:solidFill>
              </a:rPr>
              <a:t> </a:t>
            </a:r>
            <a:r>
              <a:rPr sz="1800">
                <a:solidFill>
                  <a:schemeClr val="tx1"/>
                </a:solidFill>
              </a:rPr>
              <a:t>- </a:t>
            </a:r>
            <a:r>
              <a:rPr sz="1800">
                <a:solidFill>
                  <a:schemeClr val="tx1"/>
                </a:solidFill>
              </a:rPr>
              <a:t>классификация расстояний с ResNet18</a:t>
            </a:r>
            <a:endParaRPr sz="1800">
              <a:solidFill>
                <a:schemeClr val="tx1"/>
              </a:solidFill>
            </a:endParaRPr>
          </a:p>
        </p:txBody>
      </p:sp>
      <p:sp>
        <p:nvSpPr>
          <p:cNvPr id="459346437" name="PlaceHolder 1"/>
          <p:cNvSpPr>
            <a:spLocks noGrp="1"/>
          </p:cNvSpPr>
          <p:nvPr/>
        </p:nvSpPr>
        <p:spPr bwMode="auto">
          <a:xfrm flipH="0" flipV="0">
            <a:off x="1447677" y="-8615"/>
            <a:ext cx="9142920" cy="92539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r>
              <a:rPr sz="3600"/>
              <a:t>Общая сборка проекта, многопоточность</a:t>
            </a:r>
            <a:endParaRPr sz="3600"/>
          </a:p>
        </p:txBody>
      </p:sp>
      <p:sp>
        <p:nvSpPr>
          <p:cNvPr id="737585336" name="PlaceHolder 1"/>
          <p:cNvSpPr>
            <a:spLocks noGrp="1"/>
          </p:cNvSpPr>
          <p:nvPr/>
        </p:nvSpPr>
        <p:spPr bwMode="auto">
          <a:xfrm flipH="0" flipV="0">
            <a:off x="137696" y="4007163"/>
            <a:ext cx="8497395" cy="76419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r>
              <a:rPr sz="2400" b="1"/>
              <a:t>Модули</a:t>
            </a:r>
            <a:r>
              <a:rPr sz="2400"/>
              <a:t>:</a:t>
            </a:r>
            <a:endParaRPr sz="2400" b="1"/>
          </a:p>
        </p:txBody>
      </p:sp>
      <p:sp>
        <p:nvSpPr>
          <p:cNvPr id="1901519105" name="PlaceHolder 1"/>
          <p:cNvSpPr>
            <a:spLocks noGrp="1"/>
          </p:cNvSpPr>
          <p:nvPr/>
        </p:nvSpPr>
        <p:spPr bwMode="auto">
          <a:xfrm flipH="0" flipV="0">
            <a:off x="137696" y="585048"/>
            <a:ext cx="1444426" cy="76419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r>
              <a:rPr sz="2400" b="1"/>
              <a:t>Классы</a:t>
            </a:r>
            <a:r>
              <a:rPr sz="2400"/>
              <a:t>:</a:t>
            </a:r>
            <a:endParaRPr sz="2400" b="1"/>
          </a:p>
        </p:txBody>
      </p:sp>
      <p:sp>
        <p:nvSpPr>
          <p:cNvPr id="1522423254" name="PlaceHolder 2"/>
          <p:cNvSpPr>
            <a:spLocks noGrp="1"/>
          </p:cNvSpPr>
          <p:nvPr/>
        </p:nvSpPr>
        <p:spPr bwMode="auto">
          <a:xfrm flipH="0" flipV="0">
            <a:off x="80546" y="4686300"/>
            <a:ext cx="3911399" cy="1897965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Autofit/>
          </a:bodyPr>
          <a:lstStyle/>
          <a:p>
            <a:pPr marL="305907" indent="-305907">
              <a:buFont typeface="Arial"/>
              <a:buChar char="•"/>
              <a:defRPr/>
            </a:pPr>
            <a:r>
              <a:rPr sz="1600" b="1"/>
              <a:t>PyQt5 </a:t>
            </a:r>
            <a:r>
              <a:rPr sz="1600"/>
              <a:t>- </a:t>
            </a:r>
            <a:r>
              <a:rPr sz="1600"/>
              <a:t>для создания визуального     интерфейса</a:t>
            </a:r>
            <a:endParaRPr sz="1600"/>
          </a:p>
          <a:p>
            <a:pPr marL="305907" indent="-305907">
              <a:buFont typeface="Arial"/>
              <a:buChar char="•"/>
              <a:defRPr/>
            </a:pPr>
            <a:r>
              <a:rPr sz="1600" b="1"/>
              <a:t>OpenCV </a:t>
            </a:r>
            <a:r>
              <a:rPr sz="1600"/>
              <a:t>- </a:t>
            </a:r>
            <a:r>
              <a:rPr sz="1600"/>
              <a:t>для видеозахвата</a:t>
            </a:r>
            <a:endParaRPr sz="1600"/>
          </a:p>
          <a:p>
            <a:pPr marL="305907" indent="-305907">
              <a:buFont typeface="Arial"/>
              <a:buChar char="•"/>
              <a:defRPr/>
            </a:pPr>
            <a:r>
              <a:rPr sz="1600" b="1"/>
              <a:t>PyTorch/YOLO </a:t>
            </a:r>
            <a:r>
              <a:rPr sz="1600"/>
              <a:t>- д</a:t>
            </a:r>
            <a:r>
              <a:rPr sz="1600"/>
              <a:t>ля работы с ML моделями</a:t>
            </a:r>
            <a:endParaRPr sz="1600"/>
          </a:p>
          <a:p>
            <a:pPr marL="305907" indent="-305907">
              <a:buFont typeface="Arial"/>
              <a:buChar char="•"/>
              <a:defRPr/>
            </a:pPr>
            <a:r>
              <a:rPr sz="1600" b="1"/>
              <a:t>Threading, QThread</a:t>
            </a:r>
            <a:r>
              <a:rPr sz="1600"/>
              <a:t> </a:t>
            </a:r>
            <a:r>
              <a:rPr sz="1600"/>
              <a:t>- </a:t>
            </a:r>
            <a:r>
              <a:rPr sz="1600"/>
              <a:t>многопоточность</a:t>
            </a:r>
            <a:endParaRPr sz="1600"/>
          </a:p>
          <a:p>
            <a:pPr marL="305907" indent="-305907">
              <a:buFont typeface="Arial"/>
              <a:buChar char="•"/>
              <a:defRPr/>
            </a:pPr>
            <a:r>
              <a:rPr sz="1600" b="1"/>
              <a:t>PyQtGraph </a:t>
            </a:r>
            <a:r>
              <a:rPr sz="1600"/>
              <a:t>- </a:t>
            </a:r>
            <a:r>
              <a:rPr sz="1600"/>
              <a:t>графики</a:t>
            </a:r>
            <a:endParaRPr sz="1600"/>
          </a:p>
        </p:txBody>
      </p:sp>
      <p:pic>
        <p:nvPicPr>
          <p:cNvPr id="551331915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9128022" y="831781"/>
            <a:ext cx="3104026" cy="3175383"/>
          </a:xfrm>
          <a:prstGeom prst="rect">
            <a:avLst/>
          </a:prstGeom>
        </p:spPr>
      </p:pic>
      <p:pic>
        <p:nvPicPr>
          <p:cNvPr id="13622989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28708" y="4362449"/>
            <a:ext cx="5183657" cy="2469571"/>
          </a:xfrm>
          <a:prstGeom prst="rect">
            <a:avLst/>
          </a:prstGeom>
        </p:spPr>
      </p:pic>
      <p:pic>
        <p:nvPicPr>
          <p:cNvPr id="148149522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9128021" y="4007163"/>
            <a:ext cx="3443907" cy="2862060"/>
          </a:xfrm>
          <a:prstGeom prst="rect">
            <a:avLst/>
          </a:prstGeom>
        </p:spPr>
      </p:pic>
      <p:cxnSp>
        <p:nvCxnSpPr>
          <p:cNvPr id="0" name=""/>
          <p:cNvCxnSpPr>
            <a:cxnSpLocks/>
          </p:cNvCxnSpPr>
          <p:nvPr/>
        </p:nvCxnSpPr>
        <p:spPr bwMode="auto">
          <a:xfrm flipH="0" flipV="0">
            <a:off x="10685979" y="6391274"/>
            <a:ext cx="1306969" cy="0"/>
          </a:xfrm>
          <a:prstGeom prst="line">
            <a:avLst/>
          </a:prstGeom>
          <a:ln w="139698" cap="flat" cmpd="sng" algn="ctr">
            <a:solidFill>
              <a:srgbClr val="1B1B1C"/>
            </a:solidFill>
            <a:prstDash val="solid"/>
            <a:miter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890867" name="PlaceHolder 1"/>
          <p:cNvSpPr>
            <a:spLocks noGrp="1"/>
          </p:cNvSpPr>
          <p:nvPr>
            <p:ph type="title"/>
          </p:nvPr>
        </p:nvSpPr>
        <p:spPr bwMode="auto">
          <a:xfrm>
            <a:off x="180974" y="274638"/>
            <a:ext cx="109728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sz="3600">
                <a:solidFill>
                  <a:schemeClr val="tx1"/>
                </a:solidFill>
              </a:rPr>
              <a:t>Разработка визуального интерфейса</a:t>
            </a:r>
            <a:endParaRPr sz="3600">
              <a:solidFill>
                <a:schemeClr val="tx1"/>
              </a:solidFill>
            </a:endParaRPr>
          </a:p>
        </p:txBody>
      </p:sp>
      <p:pic>
        <p:nvPicPr>
          <p:cNvPr id="863346041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6095999" y="1944692"/>
            <a:ext cx="6097949" cy="4665657"/>
          </a:xfrm>
          <a:prstGeom prst="rect">
            <a:avLst/>
          </a:prstGeom>
        </p:spPr>
      </p:pic>
      <p:sp>
        <p:nvSpPr>
          <p:cNvPr id="1385812610" name="PlaceHolder 1"/>
          <p:cNvSpPr>
            <a:spLocks noGrp="1"/>
          </p:cNvSpPr>
          <p:nvPr/>
        </p:nvSpPr>
        <p:spPr bwMode="auto">
          <a:xfrm flipH="0" flipV="0">
            <a:off x="6859212" y="1285872"/>
            <a:ext cx="8497395" cy="76419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r>
              <a:rPr sz="2400"/>
              <a:t>MainWindow: </a:t>
            </a:r>
            <a:r>
              <a:rPr sz="2400" b="1"/>
              <a:t>CalculationTab</a:t>
            </a:r>
            <a:endParaRPr sz="2400" b="1"/>
          </a:p>
        </p:txBody>
      </p:sp>
      <p:sp>
        <p:nvSpPr>
          <p:cNvPr id="1776205357" name="PlaceHolder 1"/>
          <p:cNvSpPr>
            <a:spLocks noGrp="1"/>
          </p:cNvSpPr>
          <p:nvPr/>
        </p:nvSpPr>
        <p:spPr bwMode="auto">
          <a:xfrm flipH="0" flipV="0">
            <a:off x="534612" y="1247772"/>
            <a:ext cx="8497395" cy="76419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r>
              <a:rPr sz="2400"/>
              <a:t>MainWindow: </a:t>
            </a:r>
            <a:r>
              <a:rPr sz="2400" b="1"/>
              <a:t>VisualzationTab</a:t>
            </a:r>
            <a:endParaRPr sz="2400" b="1"/>
          </a:p>
        </p:txBody>
      </p:sp>
      <p:pic>
        <p:nvPicPr>
          <p:cNvPr id="4451263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-105868" y="1947691"/>
            <a:ext cx="6201387" cy="46626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654437" name="Заголовок 1"/>
          <p:cNvSpPr>
            <a:spLocks noGrp="1"/>
          </p:cNvSpPr>
          <p:nvPr>
            <p:ph type="title"/>
          </p:nvPr>
        </p:nvSpPr>
        <p:spPr bwMode="auto">
          <a:xfrm>
            <a:off x="609599" y="2608263"/>
            <a:ext cx="10972800" cy="11430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 algn="ctr">
              <a:defRPr/>
            </a:pPr>
            <a:r>
              <a:rPr sz="7200">
                <a:solidFill>
                  <a:schemeClr val="tx1"/>
                </a:solidFill>
              </a:rPr>
              <a:t>Демонстрация работы программы</a:t>
            </a:r>
            <a:endParaRPr sz="72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8810165" name="Заголовок 1"/>
          <p:cNvSpPr>
            <a:spLocks noGrp="1"/>
          </p:cNvSpPr>
          <p:nvPr>
            <p:ph type="title"/>
          </p:nvPr>
        </p:nvSpPr>
        <p:spPr bwMode="auto">
          <a:xfrm>
            <a:off x="-723899" y="274638"/>
            <a:ext cx="10972800" cy="1143000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Ссылки на исходные файлы: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0269824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3200" b="0" i="0" u="sng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hlinkClick r:id="rId2" tooltip="https://github.com/MsKonfety/MetrologyAI"/>
              </a:rPr>
              <a:t>https://github.com/MsKonfety/MetrologyAI</a:t>
            </a:r>
            <a:r>
              <a:rPr lang="ru-RU" sz="3200" b="0" i="0" u="sng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hlinkClick r:id="rId2" tooltip="https://github.com/MsKonfety/MetrologyAI"/>
              </a:rPr>
              <a:t> </a:t>
            </a:r>
            <a:endParaRPr/>
          </a:p>
          <a:p>
            <a:pPr>
              <a:defRPr/>
            </a:pPr>
            <a:r>
              <a:rPr lang="ru-RU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https://github.com/borisov1evgeniy/metrology_ai</a:t>
            </a:r>
            <a:endParaRPr/>
          </a:p>
          <a:p>
            <a:pPr>
              <a:defRPr/>
            </a:pPr>
            <a:r>
              <a:rPr/>
              <a:t> </a:t>
            </a:r>
            <a:r>
              <a:rPr u="sng">
                <a:solidFill>
                  <a:schemeClr val="hlink"/>
                </a:solidFill>
                <a:hlinkClick r:id="rId3" tooltip="https://github.com/AnnaSus1ova/Metrology-Meter-AI-CV-MIPT-AUT-2025"/>
              </a:rPr>
              <a:t>https://github.com/AnnaSus1ova/Metrology-Meter-AI-CV-MIPT-AUT-2025</a:t>
            </a:r>
            <a:endParaRPr/>
          </a:p>
          <a:p>
            <a:pPr>
              <a:defRPr/>
            </a:pPr>
            <a:r>
              <a:rPr/>
              <a:t> </a:t>
            </a:r>
            <a:r>
              <a:rPr lang="ru-RU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https://github.com/Krik-Shad/Metrology-Meter-AI-CV-MIPT-AUT-2025</a:t>
            </a:r>
            <a:endParaRPr/>
          </a:p>
          <a:p>
            <a:pPr>
              <a:defRPr/>
            </a:pPr>
            <a:r>
              <a:rPr lang="ru-RU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https://github.com/Vovarsen/Metrology_AI</a:t>
            </a:r>
            <a:endParaRPr sz="3200"/>
          </a:p>
          <a:p>
            <a:pPr marL="0" indent="0">
              <a:buFont typeface="Arial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Классическая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R7-Office/2024.1.1.375</Application>
  <DocSecurity>0</DocSecurity>
  <PresentationFormat/>
  <Paragraphs>0</Paragraphs>
  <Slides>34</Slides>
  <Notes>34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dc:identifier/>
  <dc:language>ru-RU</dc:language>
  <cp:lastModifiedBy>Анна Астафурова</cp:lastModifiedBy>
  <cp:revision>23</cp:revision>
  <dcterms:created xsi:type="dcterms:W3CDTF">2023-08-25T13:22:51Z</dcterms:created>
  <dcterms:modified xsi:type="dcterms:W3CDTF">2025-12-15T10:28:34Z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</vt:i4>
  </property>
  <property fmtid="{D5CDD505-2E9C-101B-9397-08002B2CF9AE}" pid="4" name="PresentationFormat">
    <vt:lpwstr>Широкоэкранный</vt:lpwstr>
  </property>
  <property fmtid="{D5CDD505-2E9C-101B-9397-08002B2CF9AE}" pid="5" name="Slides">
    <vt:i4>1</vt:i4>
  </property>
</Properties>
</file>